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6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7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8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f49f812e7643cb" /><Relationship Type="http://schemas.openxmlformats.org/officeDocument/2006/relationships/extended-properties" Target="/docProps/app.xml" Id="R3cace30301964546" /><Relationship Type="http://schemas.openxmlformats.org/officeDocument/2006/relationships/officeDocument" Target="/ppt/presentation.xml" Id="Rdd19af6da1f747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9f2ebecfae466a"/>
  </p:sldMasterIdLst>
  <p:notesMasterIdLst>
    <p:notesMasterId xmlns:r="http://schemas.openxmlformats.org/officeDocument/2006/relationships" r:id="R3125239068244167"/>
  </p:notesMasterIdLst>
  <p:sldIdLst>
    <p:sldId xmlns:r="http://schemas.openxmlformats.org/officeDocument/2006/relationships" id="256" r:id="R69e95d66e5674b1a"/>
    <p:sldId xmlns:r="http://schemas.openxmlformats.org/officeDocument/2006/relationships" id="257" r:id="R5513df86a2d0471a"/>
    <p:sldId xmlns:r="http://schemas.openxmlformats.org/officeDocument/2006/relationships" id="258" r:id="R820e792f492a4d57"/>
    <p:sldId xmlns:r="http://schemas.openxmlformats.org/officeDocument/2006/relationships" id="259" r:id="R9f81e4db81a34e51"/>
    <p:sldId xmlns:r="http://schemas.openxmlformats.org/officeDocument/2006/relationships" id="260" r:id="R861a1aaae2cb4ce7"/>
    <p:sldId xmlns:r="http://schemas.openxmlformats.org/officeDocument/2006/relationships" id="261" r:id="R3441a7a927374f99"/>
    <p:sldId xmlns:r="http://schemas.openxmlformats.org/officeDocument/2006/relationships" id="262" r:id="R248f01b6ff3a44f6"/>
    <p:sldId xmlns:r="http://schemas.openxmlformats.org/officeDocument/2006/relationships" id="263" r:id="R01b5f6140c6b416e"/>
    <p:sldId xmlns:r="http://schemas.openxmlformats.org/officeDocument/2006/relationships" id="264" r:id="R49978eca6ef84518"/>
    <p:sldId xmlns:r="http://schemas.openxmlformats.org/officeDocument/2006/relationships" id="265" r:id="Rc8237a79cd42402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bd48b2ed0945a2" /><Relationship Type="http://schemas.openxmlformats.org/officeDocument/2006/relationships/slideMaster" Target="/ppt/slideMasters/slideMaster1.xml" Id="R5e9f2ebecfae466a" /><Relationship Type="http://schemas.openxmlformats.org/officeDocument/2006/relationships/notesMaster" Target="/ppt/notesMasters/notesMaster1.xml" Id="R3125239068244167" /><Relationship Type="http://schemas.openxmlformats.org/officeDocument/2006/relationships/presProps" Target="/ppt/presProps.xml" Id="R50a36905db934279" /><Relationship Type="http://schemas.openxmlformats.org/officeDocument/2006/relationships/tableStyles" Target="/ppt/tableStyles.xml" Id="R06850f6cdda74a19" /><Relationship Type="http://schemas.openxmlformats.org/officeDocument/2006/relationships/slide" Target="/ppt/slides/slide1.xml" Id="R69e95d66e5674b1a" /><Relationship Type="http://schemas.openxmlformats.org/officeDocument/2006/relationships/slide" Target="/ppt/slides/slide2.xml" Id="R5513df86a2d0471a" /><Relationship Type="http://schemas.openxmlformats.org/officeDocument/2006/relationships/slide" Target="/ppt/slides/slide3.xml" Id="R820e792f492a4d57" /><Relationship Type="http://schemas.openxmlformats.org/officeDocument/2006/relationships/slide" Target="/ppt/slides/slide4.xml" Id="R9f81e4db81a34e51" /><Relationship Type="http://schemas.openxmlformats.org/officeDocument/2006/relationships/slide" Target="/ppt/slides/slide5.xml" Id="R861a1aaae2cb4ce7" /><Relationship Type="http://schemas.openxmlformats.org/officeDocument/2006/relationships/slide" Target="/ppt/slides/slide6.xml" Id="R3441a7a927374f99" /><Relationship Type="http://schemas.openxmlformats.org/officeDocument/2006/relationships/slide" Target="/ppt/slides/slide7.xml" Id="R248f01b6ff3a44f6" /><Relationship Type="http://schemas.openxmlformats.org/officeDocument/2006/relationships/slide" Target="/ppt/slides/slide8.xml" Id="R01b5f6140c6b416e" /><Relationship Type="http://schemas.openxmlformats.org/officeDocument/2006/relationships/slide" Target="/ppt/slides/slide9.xml" Id="R49978eca6ef84518" /><Relationship Type="http://schemas.openxmlformats.org/officeDocument/2006/relationships/slide" Target="/ppt/slides/slide10.xml" Id="Rc8237a79cd4240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5681bd2c2446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65ae4d92964ec3" /><Relationship Type="http://schemas.openxmlformats.org/officeDocument/2006/relationships/notesMaster" Target="/ppt/notesMasters/notesMaster1.xml" Id="R26530c7e159c4b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9b4f0384ab40db" /><Relationship Type="http://schemas.openxmlformats.org/officeDocument/2006/relationships/notesMaster" Target="/ppt/notesMasters/notesMaster1.xml" Id="R449bd3d2c1e444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9384fdebaf40e5" /><Relationship Type="http://schemas.openxmlformats.org/officeDocument/2006/relationships/notesMaster" Target="/ppt/notesMasters/notesMaster1.xml" Id="Re4c19c91008449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19b899b40c4c6b" /><Relationship Type="http://schemas.openxmlformats.org/officeDocument/2006/relationships/notesMaster" Target="/ppt/notesMasters/notesMaster1.xml" Id="Rfd198e6abc6347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b4b4b47f754503" /><Relationship Type="http://schemas.openxmlformats.org/officeDocument/2006/relationships/notesMaster" Target="/ppt/notesMasters/notesMaster1.xml" Id="Rc28ec7a8a67547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ced56d82084098" /><Relationship Type="http://schemas.openxmlformats.org/officeDocument/2006/relationships/notesMaster" Target="/ppt/notesMasters/notesMaster1.xml" Id="Rd706f85b556347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73c7b6b9e14020" /><Relationship Type="http://schemas.openxmlformats.org/officeDocument/2006/relationships/notesMaster" Target="/ppt/notesMasters/notesMaster1.xml" Id="Rd54edfbea6744c1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9e3e26e02a4a35" /><Relationship Type="http://schemas.openxmlformats.org/officeDocument/2006/relationships/notesMaster" Target="/ppt/notesMasters/notesMaster1.xml" Id="R363c4585174b4e5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7b6dad5f4294b90" /><Relationship Type="http://schemas.openxmlformats.org/officeDocument/2006/relationships/notesMaster" Target="/ppt/notesMasters/notesMaster1.xml" Id="R79948113368140f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edabaeec41645fa" /><Relationship Type="http://schemas.openxmlformats.org/officeDocument/2006/relationships/notesMaster" Target="/ppt/notesMasters/notesMaster1.xml" Id="R6543dce271eb46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16频率合计16×10000随机请求×11候选=1760000次SELF_PROXY，每频110000逻辑候选。独立QA通过的snapshot_0031累计40请求/440槽；353个独立solver receipt、339strict有效、14strict无效。工作流计数可汇总，不混合5K/10K精度。较新生产快照不纳入本PPT。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来源及SHA-256（相对研究工作区；私有数据/权重不包含于PPT）</a:t>
            </a:r>
          </a:p>
          <a:p xmlns:a="http://schemas.openxmlformats.org/drawingml/2006/main">
            <a:r>
              <a:t>reports/frequency5to20_20260908T063800Z/advisor_slides_public_v2/output/advisor_frequency5to20_public_v2.pptx</a:t>
            </a:r>
          </a:p>
          <a:p xmlns:a="http://schemas.openxmlformats.org/drawingml/2006/main">
            <a:r>
              <a:t>SHA256 f88c5c54d687709c5a00871c8675d1108f998ab2c2d358404db59b6a786cc3b2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reports/frequency5to20_20260908T063800Z/advisor_slides_v1/drafts/advisor_frequency5to20_v6.pptx</a:t>
            </a:r>
          </a:p>
          <a:p xmlns:a="http://schemas.openxmlformats.org/drawingml/2006/main">
            <a:r>
              <a:t>SHA256 570f4105a8aae982cf1add767cec598b005cdeb41ccb95df4416020fb6e62846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reports/frequency5to20_20260908T063800Z/advisor_slides_public_v2/drafts/advisor_frequency5to20_public_v2.pptx.inspect.ndjson</a:t>
            </a:r>
          </a:p>
          <a:p xmlns:a="http://schemas.openxmlformats.org/drawingml/2006/main">
            <a:r>
              <a:t>SHA256 830ea19c211cad8d635815b0051cdd59c669a2f6f0bcbe50f6004a1f08ebd959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github_worktrees/frequency-indexed-mlp-20260908/docs/research/frequency5to20_new6_cumulative40_20260908_v2/STATUS16.json</a:t>
            </a:r>
          </a:p>
          <a:p xmlns:a="http://schemas.openxmlformats.org/drawingml/2006/main">
            <a:r>
              <a:t>SHA256 44b8cbf0d0d8d170b6bff0810df25d2c093ae2369cb53986e5ce14eea96a7169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github_worktrees/frequency-indexed-mlp-20260908/docs/research/frequency5to20_new6_cumulative40_20260908_v2/NEW6_SELECTED_PHYSICS.csv</a:t>
            </a:r>
          </a:p>
          <a:p xmlns:a="http://schemas.openxmlformats.org/drawingml/2006/main">
            <a:r>
              <a:t>SHA256 6ad3f5f45b36ad89fc4e9c2d7c5d1af39a80caf5076de604256b897c6b2609a7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github_worktrees/frequency-indexed-mlp-20260908/docs/research/frequency5to20_new6_cumulative40_20260908_v2/PUBLIC_RECEIPT.json</a:t>
            </a:r>
          </a:p>
          <a:p xmlns:a="http://schemas.openxmlformats.org/drawingml/2006/main">
            <a:r>
              <a:t>SHA256 1c5f75ca314b3788b03d29cd66f8778d34b4379d1c312960acfa0f0166f8ce41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reports/frequency5to20_20260908T063800Z/goal_remaining_audit_20260908T150100Z/TRAINING_GAPS.json</a:t>
            </a:r>
          </a:p>
          <a:p xmlns:a="http://schemas.openxmlformats.org/drawingml/2006/main">
            <a:r>
              <a:t>SHA256 4c7d3433ab9be811a998d0abd6fe07bf6fdf8d1f9f999f9c1d6ab72e3b015b3a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每频率正向10→256→256→256→4、反向4→256→256→256→10</a:t>
            </a:r>
          </a:p>
          <a:p xmlns:a="http://schemas.openxmlformats.org/drawingml/2006/main">
            <a:r>
              <a:t>完整10维字段顺序：primary_outer_width_um, primary_outer_height_um, secondary_outer_width_um, secondary_outer_height_um, line_width_um, primary_terminal_y_span_um, secondary_terminal_y_span_um, offset_um, primary_feed_extension_um, secondary_feed_extension_um。不把历史15GHz权重复制成其他频率，本轮主实验从头训练。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来源及 SHA-256（相对所属研究工作区或代码库）</a:t>
            </a:r>
          </a:p>
          <a:p xmlns:a="http://schemas.openxmlformats.org/drawingml/2006/main">
            <a:r>
              <a:t>reports/frequency_indexed_mlp_20260908T041800Z/formal10k_15ghz/forward/attempt_0001/contract.json</a:t>
            </a:r>
          </a:p>
          <a:p xmlns:a="http://schemas.openxmlformats.org/drawingml/2006/main">
            <a:r>
              <a:t>SHA256 09aea00c966b9e6d41d423b60c82e45ef6604533493e95afce071e02ba250447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research/broadband56_nn/bb00.py</a:t>
            </a:r>
          </a:p>
          <a:p xmlns:a="http://schemas.openxmlformats.org/drawingml/2006/main">
            <a:r>
              <a:t>SHA256 f9427804e06a5698d6469b1a995f0679cc66af8bb9b85fe79dbaa7b2042dff1e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固定1..10000源快照，跨频率共同几何划分，逐频strict筛选</a:t>
            </a:r>
          </a:p>
          <a:p xmlns:a="http://schemas.openxmlformats.org/drawingml/2006/main">
            <a:r>
              <a:t>严格标签依照生产已有SRF/2及有效性规则。56配置频点不是56个已训练模型。这里展示5..20已训练支持范围。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来源及 SHA-256（相对所属研究工作区或代码库）</a:t>
            </a:r>
          </a:p>
          <a:p xmlns:a="http://schemas.openxmlformats.org/drawingml/2006/main">
            <a:r>
              <a:t>reports/frequency5to20_20260908T063800Z/rollup_v3/FREQUENCY_STATUS.csv</a:t>
            </a:r>
          </a:p>
          <a:p xmlns:a="http://schemas.openxmlformats.org/drawingml/2006/main">
            <a:r>
              <a:t>SHA256 40079440bb24c8171009263aaf18e9bf24992e5769e82dcf62a42a0f6edd3bf6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reports/frequency_indexed_mlp_20260908T041800Z/formal10k_15ghz/PAIR_RECEIPT.json</a:t>
            </a:r>
          </a:p>
          <a:p xmlns:a="http://schemas.openxmlformats.org/drawingml/2006/main">
            <a:r>
              <a:t>SHA256 f5f2ced054efccf11751a83f974c4472a84ed5e5a0af57b855dcd0d793d4834f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reports/frequency_indexed_mlp_20260908T041800Z/formal10k_15ghz/forward/attempt_0001/contract.json</a:t>
            </a:r>
          </a:p>
          <a:p xmlns:a="http://schemas.openxmlformats.org/drawingml/2006/main">
            <a:r>
              <a:t>SHA256 09aea00c966b9e6d41d423b60c82e45ef6604533493e95afce071e02ba250447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四项正向holdout物理单位MAE/P95，各频率单独展示</a:t>
            </a:r>
          </a:p>
          <a:p xmlns:a="http://schemas.openxmlformats.org/drawingml/2006/main">
            <a:r>
              <a:t>每条图系列逐频率过滤panel=A_HELDOUT_FORWARD,mode=forward。N_test从1983减至96；没有跨频率池化、没有人口置信区间。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来源及 SHA-256（相对所属研究工作区或代码库）</a:t>
            </a:r>
          </a:p>
          <a:p xmlns:a="http://schemas.openxmlformats.org/drawingml/2006/main">
            <a:r>
              <a:t>reports/frequency5to20_20260908T063800Z/rollup_v3/FREQUENCY_STATUS.csv</a:t>
            </a:r>
          </a:p>
          <a:p xmlns:a="http://schemas.openxmlformats.org/drawingml/2006/main">
            <a:r>
              <a:t>SHA256 40079440bb24c8171009263aaf18e9bf24992e5769e82dcf62a42a0f6edd3bf6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reports/frequency5to20_20260908T063800Z/rollup_v3/HELDOUT_METRICS.csv</a:t>
            </a:r>
          </a:p>
          <a:p xmlns:a="http://schemas.openxmlformats.org/drawingml/2006/main">
            <a:r>
              <a:t>SHA256 eb0395c7638714d4aeb60e2a48a9834fcbe9ee194b456a778d99614a3552149e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四项正向holdout物理单位MAE/P95，各频率单独展示</a:t>
            </a:r>
          </a:p>
          <a:p xmlns:a="http://schemas.openxmlformats.org/drawingml/2006/main">
            <a:r>
              <a:t>每条图系列逐频率过滤panel=A_HELDOUT_FORWARD,mode=forward。N_test从1983减至96；没有跨频率池化、没有人口置信区间。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来源及 SHA-256（相对所属研究工作区或代码库）</a:t>
            </a:r>
          </a:p>
          <a:p xmlns:a="http://schemas.openxmlformats.org/drawingml/2006/main">
            <a:r>
              <a:t>reports/frequency5to20_20260908T063800Z/rollup_v3/FREQUENCY_STATUS.csv</a:t>
            </a:r>
          </a:p>
          <a:p xmlns:a="http://schemas.openxmlformats.org/drawingml/2006/main">
            <a:r>
              <a:t>SHA256 40079440bb24c8171009263aaf18e9bf24992e5769e82dcf62a42a0f6edd3bf6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reports/frequency5to20_20260908T063800Z/rollup_v3/HELDOUT_METRICS.csv</a:t>
            </a:r>
          </a:p>
          <a:p xmlns:a="http://schemas.openxmlformats.org/drawingml/2006/main">
            <a:r>
              <a:t>SHA256 eb0395c7638714d4aeb60e2a48a9834fcbe9ee194b456a778d99614a3552149e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逐频率随机Q扫描，响应命中与解析联合通过同分母分开展示</a:t>
            </a:r>
          </a:p>
          <a:p xmlns:a="http://schemas.openxmlformats.org/drawingml/2006/main">
            <a:r>
              <a:t>Q_target为对称目标，不使用旧汇报中的one-sided短缺定义。每频率10,000 requests×11=110,000逻辑候选，不能称110,000独立请求。预选q_proxy基于冻结网格代理，未使用EMX选择。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来源及 SHA-256（相对所属研究工作区或代码库）</a:t>
            </a:r>
          </a:p>
          <a:p xmlns:a="http://schemas.openxmlformats.org/drawingml/2006/main">
            <a:r>
              <a:t>reports/frequency5to20_20260908T063800Z/rollup_v3/FREQUENCY_STATUS.csv</a:t>
            </a:r>
          </a:p>
          <a:p xmlns:a="http://schemas.openxmlformats.org/drawingml/2006/main">
            <a:r>
              <a:t>SHA256 40079440bb24c8171009263aaf18e9bf24992e5769e82dcf62a42a0f6edd3bf6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研究问题：冻结原请求经过真实物理流程后，有多少求解有效及失败？本页为工作流计数，不是精度排名或控制变量因果比较。样本按request整簇，固定11 Q候选；各频率仅2–3请求，已有区间采用整请求bootstrap 2000次，seed2026090801，PROVISIONAL_SMALL_REQUEST_N。5个完整strict11请求才允许q_emx；其他保持空值，不做幸存者最优。全计划221个预知解析拒绝与2885pending属于3520全槽口径，不与本页26个已关闭解析拒绝混用。15GHz development5K共3请求25求解22有效；正式10K15 fresh EMX=NOT_RUN。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来源及SHA-256（相对研究工作区；私有数据/权重不包含于PPT）</a:t>
            </a:r>
          </a:p>
          <a:p xmlns:a="http://schemas.openxmlformats.org/drawingml/2006/main">
            <a:r>
              <a:t>reports/frequency5to20_20260908T063800Z/advisor_slides_public_v2/output/advisor_frequency5to20_public_v2.pptx</a:t>
            </a:r>
          </a:p>
          <a:p xmlns:a="http://schemas.openxmlformats.org/drawingml/2006/main">
            <a:r>
              <a:t>SHA256 f88c5c54d687709c5a00871c8675d1108f998ab2c2d358404db59b6a786cc3b2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reports/frequency5to20_20260908T063800Z/advisor_slides_v1/drafts/advisor_frequency5to20_v6.pptx</a:t>
            </a:r>
          </a:p>
          <a:p xmlns:a="http://schemas.openxmlformats.org/drawingml/2006/main">
            <a:r>
              <a:t>SHA256 570f4105a8aae982cf1add767cec598b005cdeb41ccb95df4416020fb6e62846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reports/frequency5to20_20260908T063800Z/advisor_slides_public_v2/drafts/advisor_frequency5to20_public_v2.pptx.inspect.ndjson</a:t>
            </a:r>
          </a:p>
          <a:p xmlns:a="http://schemas.openxmlformats.org/drawingml/2006/main">
            <a:r>
              <a:t>SHA256 830ea19c211cad8d635815b0051cdd59c669a2f6f0bcbe50f6004a1f08ebd959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github_worktrees/frequency-indexed-mlp-20260908/docs/research/frequency5to20_new6_cumulative40_20260908_v2/STATUS16.json</a:t>
            </a:r>
          </a:p>
          <a:p xmlns:a="http://schemas.openxmlformats.org/drawingml/2006/main">
            <a:r>
              <a:t>SHA256 44b8cbf0d0d8d170b6bff0810df25d2c093ae2369cb53986e5ce14eea96a7169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github_worktrees/frequency-indexed-mlp-20260908/docs/research/frequency5to20_new6_cumulative40_20260908_v2/NEW6_SELECTED_PHYSICS.csv</a:t>
            </a:r>
          </a:p>
          <a:p xmlns:a="http://schemas.openxmlformats.org/drawingml/2006/main">
            <a:r>
              <a:t>SHA256 6ad3f5f45b36ad89fc4e9c2d7c5d1af39a80caf5076de604256b897c6b2609a7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github_worktrees/frequency-indexed-mlp-20260908/docs/research/frequency5to20_new6_cumulative40_20260908_v2/PUBLIC_RECEIPT.json</a:t>
            </a:r>
          </a:p>
          <a:p xmlns:a="http://schemas.openxmlformats.org/drawingml/2006/main">
            <a:r>
              <a:t>SHA256 1c5f75ca314b3788b03d29cd66f8778d34b4379d1c312960acfa0f0166f8ce41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reports/frequency5to20_20260908T063800Z/goal_remaining_audit_20260908T150100Z/TRAINING_GAPS.json</a:t>
            </a:r>
          </a:p>
          <a:p xmlns:a="http://schemas.openxmlformats.org/drawingml/2006/main">
            <a:r>
              <a:t>SHA256 4c7d3433ab9be811a998d0abd6fe07bf6fdf8d1f9f999f9c1d6ab72e3b015b3a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固定请求f20_qscan-HELDOUT_TRIPLE_AUDIT-000002，模型f20-4d6b0c6066ee，FORMAL_10K，原q_proxy=13。四指标顺序Lp_nH,Ls_nH,Qmin,K_abs。百分比=100*abs(EMX-target)/abs(target)，与绝对容差[.125,.125,1,.04]不同。原q10/q12因secondary SRF/2严格标签无效，不是q13联合失败原因。q13本身strict有效，K_abs绝对残差0.041373774013270415超0.04。完整真实数值保留源CSV；图表数字保留10有效位，表格6位小数。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来源及SHA-256（相对研究工作区；私有数据/权重不包含于PPT）</a:t>
            </a:r>
          </a:p>
          <a:p xmlns:a="http://schemas.openxmlformats.org/drawingml/2006/main">
            <a:r>
              <a:t>reports/frequency5to20_20260908T063800Z/advisor_slides_public_v2/output/advisor_frequency5to20_public_v2.pptx</a:t>
            </a:r>
          </a:p>
          <a:p xmlns:a="http://schemas.openxmlformats.org/drawingml/2006/main">
            <a:r>
              <a:t>SHA256 f88c5c54d687709c5a00871c8675d1108f998ab2c2d358404db59b6a786cc3b2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reports/frequency5to20_20260908T063800Z/advisor_slides_v1/drafts/advisor_frequency5to20_v6.pptx</a:t>
            </a:r>
          </a:p>
          <a:p xmlns:a="http://schemas.openxmlformats.org/drawingml/2006/main">
            <a:r>
              <a:t>SHA256 570f4105a8aae982cf1add767cec598b005cdeb41ccb95df4416020fb6e62846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reports/frequency5to20_20260908T063800Z/advisor_slides_public_v2/drafts/advisor_frequency5to20_public_v2.pptx.inspect.ndjson</a:t>
            </a:r>
          </a:p>
          <a:p xmlns:a="http://schemas.openxmlformats.org/drawingml/2006/main">
            <a:r>
              <a:t>SHA256 830ea19c211cad8d635815b0051cdd59c669a2f6f0bcbe50f6004a1f08ebd959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github_worktrees/frequency-indexed-mlp-20260908/docs/research/frequency5to20_new6_cumulative40_20260908_v2/STATUS16.json</a:t>
            </a:r>
          </a:p>
          <a:p xmlns:a="http://schemas.openxmlformats.org/drawingml/2006/main">
            <a:r>
              <a:t>SHA256 44b8cbf0d0d8d170b6bff0810df25d2c093ae2369cb53986e5ce14eea96a7169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github_worktrees/frequency-indexed-mlp-20260908/docs/research/frequency5to20_new6_cumulative40_20260908_v2/NEW6_SELECTED_PHYSICS.csv</a:t>
            </a:r>
          </a:p>
          <a:p xmlns:a="http://schemas.openxmlformats.org/drawingml/2006/main">
            <a:r>
              <a:t>SHA256 6ad3f5f45b36ad89fc4e9c2d7c5d1af39a80caf5076de604256b897c6b2609a7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github_worktrees/frequency-indexed-mlp-20260908/docs/research/frequency5to20_new6_cumulative40_20260908_v2/PUBLIC_RECEIPT.json</a:t>
            </a:r>
          </a:p>
          <a:p xmlns:a="http://schemas.openxmlformats.org/drawingml/2006/main">
            <a:r>
              <a:t>SHA256 1c5f75ca314b3788b03d29cd66f8778d34b4379d1c312960acfa0f0166f8ce41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reports/frequency5to20_20260908T063800Z/goal_remaining_audit_20260908T150100Z/TRAINING_GAPS.json</a:t>
            </a:r>
          </a:p>
          <a:p xmlns:a="http://schemas.openxmlformats.org/drawingml/2006/main">
            <a:r>
              <a:t>SHA256 4c7d3433ab9be811a998d0abd6fe07bf6fdf8d1f9f999f9c1d6ab72e3b015b3a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15GHz的真实保存validation曲线与高频预算限制</a:t>
            </a:r>
          </a:p>
          <a:p xmlns:a="http://schemas.openxmlformats.org/drawingml/2006/main">
            <a:r>
              <a:t>每角色max=min(12000,ceil(200*Ntrain/32))，seed17，AdamW lr3e-4 wd1e-4，batch32 micro8，CPU2线程，validation间隔100，patience20。几何anchor权重0.01，响应权重warmup600+ramp3000及EMA自适应。预算结束保存PARTIAL不是收敛证明。best F=11800，I=11900；last=12000。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来源及 SHA-256（相对所属研究工作区或代码库）</a:t>
            </a:r>
          </a:p>
          <a:p xmlns:a="http://schemas.openxmlformats.org/drawingml/2006/main">
            <a:r>
              <a:t>reports/frequency5to20_20260908T063800Z/rollup_v3/FREQUENCY_STATUS.csv</a:t>
            </a:r>
          </a:p>
          <a:p xmlns:a="http://schemas.openxmlformats.org/drawingml/2006/main">
            <a:r>
              <a:t>SHA256 40079440bb24c8171009263aaf18e9bf24992e5769e82dcf62a42a0f6edd3bf6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reports/frequency_indexed_mlp_20260908T041800Z/formal10k_15ghz/PAIR_RECEIPT.json</a:t>
            </a:r>
          </a:p>
          <a:p xmlns:a="http://schemas.openxmlformats.org/drawingml/2006/main">
            <a:r>
              <a:t>SHA256 f5f2ced054efccf11751a83f974c4472a84ed5e5a0af57b855dcd0d793d4834f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reports/frequency_indexed_mlp_20260908T041800Z/formal10k_15ghz/forward/attempt_0001/history.json</a:t>
            </a:r>
          </a:p>
          <a:p xmlns:a="http://schemas.openxmlformats.org/drawingml/2006/main">
            <a:r>
              <a:t>SHA256 1518441a3fac461d1afd1aaf25f8ed80c9713772331552f1d02c271780ec8d29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reports/frequency_indexed_mlp_20260908T041800Z/formal10k_15ghz/inverse/attempt_0001/history.json</a:t>
            </a:r>
          </a:p>
          <a:p xmlns:a="http://schemas.openxmlformats.org/drawingml/2006/main">
            <a:r>
              <a:t>SHA256 f9436db654fc6da7ad6681894f6e8a514d436b88d5b43e092fbc62f876d73020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research/broadband56_nn/bb00.py</a:t>
            </a:r>
          </a:p>
          <a:p xmlns:a="http://schemas.openxmlformats.org/drawingml/2006/main">
            <a:r>
              <a:t>SHA256 f9427804e06a5698d6469b1a995f0679cc66af8bb9b85fe79dbaa7b2042dff1e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调用路径真实存在，加载/续训测试已完成，命令仅展示本轮不运行</a:t>
            </a:r>
          </a:p>
          <a:p xmlns:a="http://schemas.openxmlformats.org/drawingml/2006/main">
            <a:r>
              <a:t>环境相关调用示例：在已配置的研究环境与repo根目录运行。下列reports路径相对拥有原模型包的研究工作区，公开PPT不包含私有权重或数据。示例目标不保证处于全部联合支持域，超界应报错，不裁剪目标。</a:t>
            </a:r>
          </a:p>
          <a:p xmlns:a="http://schemas.openxmlformats.org/drawingml/2006/main">
            <a:r>
              <a:t>python -B -m research.broadband56_nn.frequency_package infer --index reports/frequency_indexed_mlp_20260908T041800Z/formal10k_15ghz/posttrain/package/MODEL_INDEX.json --frequency-ghz 15 --label-mode STRICT_LUMPED --targets '[1.4,0.9,14,0.14]'</a:t>
            </a:r>
          </a:p>
          <a:p xmlns:a="http://schemas.openxmlformats.org/drawingml/2006/main">
            <a:r>
              <a:t>续训使用相同module resume，额外需原精确data-root、全新out、role、steps、deadline-utc与共享device-lock。本PPT不触发训练或推理。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来源及 SHA-256（相对所属研究工作区或代码库）</a:t>
            </a:r>
          </a:p>
          <a:p xmlns:a="http://schemas.openxmlformats.org/drawingml/2006/main">
            <a:r>
              <a:t>reports/frequency5to20_20260908T063800Z/rollup_v3/FREQUENCY_STATUS.csv</a:t>
            </a:r>
          </a:p>
          <a:p xmlns:a="http://schemas.openxmlformats.org/drawingml/2006/main">
            <a:r>
              <a:t>SHA256 40079440bb24c8171009263aaf18e9bf24992e5769e82dcf62a42a0f6edd3bf6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reports/frequency5to20_20260908T063800Z/rollup_v3/MODEL_REGISTRY.json</a:t>
            </a:r>
          </a:p>
          <a:p xmlns:a="http://schemas.openxmlformats.org/drawingml/2006/main">
            <a:r>
              <a:t>SHA256 0499cc7b9bc54602443391db5871d6442d3bd20e2207b4448d861bb1eec08c00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research/broadband56_nn/frequency_package.py</a:t>
            </a:r>
          </a:p>
          <a:p xmlns:a="http://schemas.openxmlformats.org/drawingml/2006/main">
            <a:r>
              <a:t>SHA256 58c77780c71bc993d574a23f76cf2330ef34d2d3efe22a2feb73876dc33f31dd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reports/frequency_indexed_mlp_20260908T041800Z/formal10k_15ghz/posttrain/package/MODEL_INDEX.json</a:t>
            </a:r>
          </a:p>
          <a:p xmlns:a="http://schemas.openxmlformats.org/drawingml/2006/main">
            <a:r>
              <a:t>SHA256 7500488458c8e428ea490736bc4dabd2335bfc993b4b840bdf8de465a7a22fc0</a:t>
            </a:r>
          </a:p>
          <a:p xmlns:a="http://schemas.openxmlformats.org/drawingml/2006/main">
            <a:r>
              <a:t>追加预算事实：原queue已FINITE_QUEUE_PASS_ENDED，32个F/I终态均UPDATE_BUDGET_COMPLETE；steps=min(12000,ceil(200*Ntrain/32))。19/20GHz分别3357/1744，小于600+3000 ramp终点。原resume接口不能突破冻结累计horizon，单更新resume_probe是诊断、research_comparison_eligible=false。本次不更改配置、权重或物理队列。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来源及SHA-256（相对研究工作区；私有数据/权重不包含于PPT）</a:t>
            </a:r>
          </a:p>
          <a:p xmlns:a="http://schemas.openxmlformats.org/drawingml/2006/main">
            <a:r>
              <a:t>reports/frequency5to20_20260908T063800Z/advisor_slides_public_v2/output/advisor_frequency5to20_public_v2.pptx</a:t>
            </a:r>
          </a:p>
          <a:p xmlns:a="http://schemas.openxmlformats.org/drawingml/2006/main">
            <a:r>
              <a:t>SHA256 f88c5c54d687709c5a00871c8675d1108f998ab2c2d358404db59b6a786cc3b2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reports/frequency5to20_20260908T063800Z/advisor_slides_v1/drafts/advisor_frequency5to20_v6.pptx</a:t>
            </a:r>
          </a:p>
          <a:p xmlns:a="http://schemas.openxmlformats.org/drawingml/2006/main">
            <a:r>
              <a:t>SHA256 570f4105a8aae982cf1add767cec598b005cdeb41ccb95df4416020fb6e62846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reports/frequency5to20_20260908T063800Z/advisor_slides_public_v2/drafts/advisor_frequency5to20_public_v2.pptx.inspect.ndjson</a:t>
            </a:r>
          </a:p>
          <a:p xmlns:a="http://schemas.openxmlformats.org/drawingml/2006/main">
            <a:r>
              <a:t>SHA256 830ea19c211cad8d635815b0051cdd59c669a2f6f0bcbe50f6004a1f08ebd959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github_worktrees/frequency-indexed-mlp-20260908/docs/research/frequency5to20_new6_cumulative40_20260908_v2/STATUS16.json</a:t>
            </a:r>
          </a:p>
          <a:p xmlns:a="http://schemas.openxmlformats.org/drawingml/2006/main">
            <a:r>
              <a:t>SHA256 44b8cbf0d0d8d170b6bff0810df25d2c093ae2369cb53986e5ce14eea96a7169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github_worktrees/frequency-indexed-mlp-20260908/docs/research/frequency5to20_new6_cumulative40_20260908_v2/NEW6_SELECTED_PHYSICS.csv</a:t>
            </a:r>
          </a:p>
          <a:p xmlns:a="http://schemas.openxmlformats.org/drawingml/2006/main">
            <a:r>
              <a:t>SHA256 6ad3f5f45b36ad89fc4e9c2d7c5d1af39a80caf5076de604256b897c6b2609a7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github_worktrees/frequency-indexed-mlp-20260908/docs/research/frequency5to20_new6_cumulative40_20260908_v2/PUBLIC_RECEIPT.json</a:t>
            </a:r>
          </a:p>
          <a:p xmlns:a="http://schemas.openxmlformats.org/drawingml/2006/main">
            <a:r>
              <a:t>SHA256 1c5f75ca314b3788b03d29cd66f8778d34b4379d1c312960acfa0f0166f8ce41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reports/frequency5to20_20260908T063800Z/goal_remaining_audit_20260908T150100Z/TRAINING_GAPS.json</a:t>
            </a:r>
          </a:p>
          <a:p xmlns:a="http://schemas.openxmlformats.org/drawingml/2006/main">
            <a:r>
              <a:t>SHA256 4c7d3433ab9be811a998d0abd6fe07bf6fdf8d1f9f999f9c1d6ab72e3b015b3a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be98375e4748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e8027914894573" /><Relationship Type="http://schemas.openxmlformats.org/officeDocument/2006/relationships/slideLayout" Target="/ppt/slideLayouts/slideLayout1.xml" Id="R0e0aeb9b513341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0aeb9b513341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f6ff4a3bfd4809" /><Relationship Type="http://schemas.openxmlformats.org/officeDocument/2006/relationships/notesSlide" Target="/ppt/notesSlides/notesSlide1.xml" Id="R7ce0d414bf174a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24e5fd66594f5a" /><Relationship Type="http://schemas.openxmlformats.org/officeDocument/2006/relationships/notesSlide" Target="/ppt/notesSlides/notesSlide2.xml" Id="Re4c138d7424441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57c3955a0443c" /><Relationship Type="http://schemas.openxmlformats.org/officeDocument/2006/relationships/chart" Target="/ppt/slides/charts/chart1.xml" Id="Rfac18ad7f2204924" /><Relationship Type="http://schemas.openxmlformats.org/officeDocument/2006/relationships/notesSlide" Target="/ppt/notesSlides/notesSlide3.xml" Id="R59d0dce042844b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5b2d0266b3455c" /><Relationship Type="http://schemas.openxmlformats.org/officeDocument/2006/relationships/chart" Target="/ppt/slides/charts/chart2.xml" Id="R820d5712cc35467b" /><Relationship Type="http://schemas.openxmlformats.org/officeDocument/2006/relationships/chart" Target="/ppt/slides/charts/chart3.xml" Id="Rb50945df26084c1f" /><Relationship Type="http://schemas.openxmlformats.org/officeDocument/2006/relationships/notesSlide" Target="/ppt/notesSlides/notesSlide4.xml" Id="Rba116db7370544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2501f3c4ff4f2b" /><Relationship Type="http://schemas.openxmlformats.org/officeDocument/2006/relationships/chart" Target="/ppt/slides/charts/chart4.xml" Id="R2e1dace9392b4929" /><Relationship Type="http://schemas.openxmlformats.org/officeDocument/2006/relationships/chart" Target="/ppt/slides/charts/chart5.xml" Id="Re53790cc470e4333" /><Relationship Type="http://schemas.openxmlformats.org/officeDocument/2006/relationships/notesSlide" Target="/ppt/notesSlides/notesSlide5.xml" Id="R4b0b32145e4a4d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0505f29e6a4301" /><Relationship Type="http://schemas.openxmlformats.org/officeDocument/2006/relationships/chart" Target="/ppt/slides/charts/chart6.xml" Id="Ra915cf044de24be7" /><Relationship Type="http://schemas.openxmlformats.org/officeDocument/2006/relationships/notesSlide" Target="/ppt/notesSlides/notesSlide6.xml" Id="R24a40eb96d9443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6a3fd08fe84ef9" /><Relationship Type="http://schemas.openxmlformats.org/officeDocument/2006/relationships/chart" Target="/ppt/slides/charts/chart7.xml" Id="R9c51f8ecc5714b35" /><Relationship Type="http://schemas.openxmlformats.org/officeDocument/2006/relationships/notesSlide" Target="/ppt/notesSlides/notesSlide7.xml" Id="Rf84da77f09914f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6b87e588540e9" /><Relationship Type="http://schemas.openxmlformats.org/officeDocument/2006/relationships/chart" Target="/ppt/slides/charts/chart8.xml" Id="R31daef48e1984838" /><Relationship Type="http://schemas.openxmlformats.org/officeDocument/2006/relationships/notesSlide" Target="/ppt/notesSlides/notesSlide8.xml" Id="R5a00e506f8c149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ebe04da3d4d35" /><Relationship Type="http://schemas.openxmlformats.org/officeDocument/2006/relationships/chart" Target="/ppt/slides/charts/chart9.xml" Id="R685f4b4928204cbd" /><Relationship Type="http://schemas.openxmlformats.org/officeDocument/2006/relationships/chart" Target="/ppt/slides/charts/chart10.xml" Id="Reb675c78ae134335" /><Relationship Type="http://schemas.openxmlformats.org/officeDocument/2006/relationships/notesSlide" Target="/ppt/notesSlides/notesSlide9.xml" Id="R11cf10243c384fb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723d64c842441b" /><Relationship Type="http://schemas.openxmlformats.org/officeDocument/2006/relationships/notesSlide" Target="/ppt/notesSlides/notesSlide10.xml" Id="R9817d2ad13b041d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严格标签下的实际样本数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 b="1">
              <a:solidFill>
                <a:srgbClr val="101828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stacked"/>
        <c:varyColors val="0"/>
        <c:ser>
          <c:idx val="0"/>
          <c:order val="0"/>
          <c:tx>
            <c:v>gradient train</c:v>
          </c:tx>
          <c:spPr>
            <a:solidFill xmlns:a="http://schemas.openxmlformats.org/drawingml/2006/main">
              <a:srgbClr val="1877D2"/>
            </a:solidFill>
          </c:spPr>
          <c:cat>
            <c:numRef>
              <c:f>'Chart Data'!$A$2:$A$17</c:f>
              <c:numCache>
                <c:formatCode>General</c:formatCode>
                <c:ptCount val="1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</c:numCache>
            </c:numRef>
          </c:cat>
          <c:val>
            <c:numRef>
              <c:f>'Chart Data'!$B$2:$B$17</c:f>
              <c:numCache>
                <c:formatCode>0</c:formatCode>
                <c:ptCount val="16"/>
                <c:pt idx="0">
                  <c:v>6015</c:v>
                </c:pt>
                <c:pt idx="1">
                  <c:v>6015</c:v>
                </c:pt>
                <c:pt idx="2">
                  <c:v>6015</c:v>
                </c:pt>
                <c:pt idx="3">
                  <c:v>6014</c:v>
                </c:pt>
                <c:pt idx="4">
                  <c:v>5997</c:v>
                </c:pt>
                <c:pt idx="5">
                  <c:v>5933</c:v>
                </c:pt>
                <c:pt idx="6">
                  <c:v>5793</c:v>
                </c:pt>
                <c:pt idx="7">
                  <c:v>5486</c:v>
                </c:pt>
                <c:pt idx="8">
                  <c:v>4937</c:v>
                </c:pt>
                <c:pt idx="9">
                  <c:v>4107</c:v>
                </c:pt>
                <c:pt idx="10">
                  <c:v>3175</c:v>
                </c:pt>
                <c:pt idx="11">
                  <c:v>2225</c:v>
                </c:pt>
                <c:pt idx="12">
                  <c:v>1420</c:v>
                </c:pt>
                <c:pt idx="13">
                  <c:v>886</c:v>
                </c:pt>
                <c:pt idx="14">
                  <c:v>537</c:v>
                </c:pt>
                <c:pt idx="15">
                  <c:v>279</c:v>
                </c:pt>
              </c:numCache>
            </c:numRef>
          </c:val>
        </c:ser>
        <c:ser>
          <c:idx val="1"/>
          <c:order val="1"/>
          <c:tx>
            <c:v>validation</c:v>
          </c:tx>
          <c:spPr>
            <a:solidFill xmlns:a="http://schemas.openxmlformats.org/drawingml/2006/main">
              <a:srgbClr val="059D80"/>
            </a:solidFill>
          </c:spPr>
          <c:cat>
            <c:numRef>
              <c:f>'Chart Data'!$C$2:$C$17</c:f>
              <c:numCache>
                <c:formatCode>General</c:formatCode>
                <c:ptCount val="1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</c:numCache>
            </c:numRef>
          </c:cat>
          <c:val>
            <c:numRef>
              <c:f>'Chart Data'!$D$2:$D$17</c:f>
              <c:numCache>
                <c:formatCode>0</c:formatCode>
                <c:ptCount val="16"/>
                <c:pt idx="0">
                  <c:v>2002</c:v>
                </c:pt>
                <c:pt idx="1">
                  <c:v>2002</c:v>
                </c:pt>
                <c:pt idx="2">
                  <c:v>2002</c:v>
                </c:pt>
                <c:pt idx="3">
                  <c:v>2001</c:v>
                </c:pt>
                <c:pt idx="4">
                  <c:v>1989</c:v>
                </c:pt>
                <c:pt idx="5">
                  <c:v>1965</c:v>
                </c:pt>
                <c:pt idx="6">
                  <c:v>1908</c:v>
                </c:pt>
                <c:pt idx="7">
                  <c:v>1800</c:v>
                </c:pt>
                <c:pt idx="8">
                  <c:v>1618</c:v>
                </c:pt>
                <c:pt idx="9">
                  <c:v>1341</c:v>
                </c:pt>
                <c:pt idx="10">
                  <c:v>1006</c:v>
                </c:pt>
                <c:pt idx="11">
                  <c:v>711</c:v>
                </c:pt>
                <c:pt idx="12">
                  <c:v>468</c:v>
                </c:pt>
                <c:pt idx="13">
                  <c:v>280</c:v>
                </c:pt>
                <c:pt idx="14">
                  <c:v>154</c:v>
                </c:pt>
                <c:pt idx="15">
                  <c:v>89</c:v>
                </c:pt>
              </c:numCache>
            </c:numRef>
          </c:val>
        </c:ser>
        <c:ser>
          <c:idx val="2"/>
          <c:order val="2"/>
          <c:tx>
            <c:v>test</c:v>
          </c:tx>
          <c:spPr>
            <a:solidFill xmlns:a="http://schemas.openxmlformats.org/drawingml/2006/main">
              <a:srgbClr val="EE7015"/>
            </a:solidFill>
          </c:spPr>
          <c:cat>
            <c:numRef>
              <c:f>'Chart Data'!$E$2:$E$17</c:f>
              <c:numCache>
                <c:formatCode>General</c:formatCode>
                <c:ptCount val="1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</c:numCache>
            </c:numRef>
          </c:cat>
          <c:val>
            <c:numRef>
              <c:f>'Chart Data'!$F$2:$F$17</c:f>
              <c:numCache>
                <c:formatCode>0</c:formatCode>
                <c:ptCount val="16"/>
                <c:pt idx="0">
                  <c:v>1983</c:v>
                </c:pt>
                <c:pt idx="1">
                  <c:v>1983</c:v>
                </c:pt>
                <c:pt idx="2">
                  <c:v>1983</c:v>
                </c:pt>
                <c:pt idx="3">
                  <c:v>1982</c:v>
                </c:pt>
                <c:pt idx="4">
                  <c:v>1974</c:v>
                </c:pt>
                <c:pt idx="5">
                  <c:v>1953</c:v>
                </c:pt>
                <c:pt idx="6">
                  <c:v>1905</c:v>
                </c:pt>
                <c:pt idx="7">
                  <c:v>1806</c:v>
                </c:pt>
                <c:pt idx="8">
                  <c:v>1624</c:v>
                </c:pt>
                <c:pt idx="9">
                  <c:v>1376</c:v>
                </c:pt>
                <c:pt idx="10">
                  <c:v>1046</c:v>
                </c:pt>
                <c:pt idx="11">
                  <c:v>722</c:v>
                </c:pt>
                <c:pt idx="12">
                  <c:v>455</c:v>
                </c:pt>
                <c:pt idx="13">
                  <c:v>296</c:v>
                </c:pt>
                <c:pt idx="14">
                  <c:v>179</c:v>
                </c:pt>
                <c:pt idx="15">
                  <c:v>96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latin typeface="Helvetica Neue"/>
                  <a:ea typeface="Helvetica Neue"/>
                  <a:cs typeface="Helvetica Neue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频率 (GHz)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1000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E7EA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几何数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Lp 绝对误差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 b="1">
              <a:solidFill>
                <a:srgbClr val="101828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MAE</c:v>
          </c:tx>
          <c:spPr>
            <a:solidFill xmlns:a="http://schemas.openxmlformats.org/drawingml/2006/main">
              <a:srgbClr val="1877D2"/>
            </a:solidFill>
          </c:spPr>
          <c:cat>
            <c:numRef>
              <c:f>'Chart Data'!$A$2:$A$17</c:f>
              <c:numCache>
                <c:formatCode>General</c:formatCode>
                <c:ptCount val="1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</c:numCache>
            </c:numRef>
          </c:cat>
          <c:val>
            <c:numRef>
              <c:f>'Chart Data'!$B$2:$B$17</c:f>
              <c:numCache>
                <c:formatCode>0.00</c:formatCode>
                <c:ptCount val="16"/>
                <c:pt idx="0">
                  <c:v>0.004929160605</c:v>
                </c:pt>
                <c:pt idx="1">
                  <c:v>0.005888667242</c:v>
                </c:pt>
                <c:pt idx="2">
                  <c:v>0.005742374723</c:v>
                </c:pt>
                <c:pt idx="3">
                  <c:v>0.006099196262</c:v>
                </c:pt>
                <c:pt idx="4">
                  <c:v>0.007455953368</c:v>
                </c:pt>
                <c:pt idx="5">
                  <c:v>0.007915253455</c:v>
                </c:pt>
                <c:pt idx="6">
                  <c:v>0.008184119997</c:v>
                </c:pt>
                <c:pt idx="7">
                  <c:v>0.008586638431</c:v>
                </c:pt>
                <c:pt idx="8">
                  <c:v>0.007406472895</c:v>
                </c:pt>
                <c:pt idx="9">
                  <c:v>0.007364215142</c:v>
                </c:pt>
                <c:pt idx="10">
                  <c:v>0.007439891262</c:v>
                </c:pt>
                <c:pt idx="11">
                  <c:v>0.00797953661</c:v>
                </c:pt>
                <c:pt idx="12">
                  <c:v>0.009276201839</c:v>
                </c:pt>
                <c:pt idx="13">
                  <c:v>0.01105663952</c:v>
                </c:pt>
                <c:pt idx="14">
                  <c:v>0.01362695489</c:v>
                </c:pt>
                <c:pt idx="15">
                  <c:v>0.01879764083</c:v>
                </c:pt>
              </c:numCache>
            </c:numRef>
          </c:val>
        </c:ser>
        <c:ser>
          <c:idx val="1"/>
          <c:order val="1"/>
          <c:tx>
            <c:v>P95</c:v>
          </c:tx>
          <c:spPr>
            <a:solidFill xmlns:a="http://schemas.openxmlformats.org/drawingml/2006/main">
              <a:srgbClr val="EE7015"/>
            </a:solidFill>
          </c:spPr>
          <c:cat>
            <c:numRef>
              <c:f>'Chart Data'!$C$2:$C$17</c:f>
              <c:numCache>
                <c:formatCode>General</c:formatCode>
                <c:ptCount val="1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</c:numCache>
            </c:numRef>
          </c:cat>
          <c:val>
            <c:numRef>
              <c:f>'Chart Data'!$D$2:$D$17</c:f>
              <c:numCache>
                <c:formatCode>0.00</c:formatCode>
                <c:ptCount val="16"/>
                <c:pt idx="0">
                  <c:v>0.01246039253</c:v>
                </c:pt>
                <c:pt idx="1">
                  <c:v>0.01453316922</c:v>
                </c:pt>
                <c:pt idx="2">
                  <c:v>0.01415513604</c:v>
                </c:pt>
                <c:pt idx="3">
                  <c:v>0.01563372458</c:v>
                </c:pt>
                <c:pt idx="4">
                  <c:v>0.01898492596</c:v>
                </c:pt>
                <c:pt idx="5">
                  <c:v>0.02027937321</c:v>
                </c:pt>
                <c:pt idx="6">
                  <c:v>0.02122323535</c:v>
                </c:pt>
                <c:pt idx="7">
                  <c:v>0.02290199327</c:v>
                </c:pt>
                <c:pt idx="8">
                  <c:v>0.02000627823</c:v>
                </c:pt>
                <c:pt idx="9">
                  <c:v>0.01832706874</c:v>
                </c:pt>
                <c:pt idx="10">
                  <c:v>0.01899873857</c:v>
                </c:pt>
                <c:pt idx="11">
                  <c:v>0.0205949773</c:v>
                </c:pt>
                <c:pt idx="12">
                  <c:v>0.0248223182</c:v>
                </c:pt>
                <c:pt idx="13">
                  <c:v>0.02806247608</c:v>
                </c:pt>
                <c:pt idx="14">
                  <c:v>0.03596825097</c:v>
                </c:pt>
                <c:pt idx="15">
                  <c:v>0.04310848195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频率 (GHz)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E7EA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nH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Ls 绝对误差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 b="1">
              <a:solidFill>
                <a:srgbClr val="101828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MAE</c:v>
          </c:tx>
          <c:spPr>
            <a:solidFill xmlns:a="http://schemas.openxmlformats.org/drawingml/2006/main">
              <a:srgbClr val="1877D2"/>
            </a:solidFill>
          </c:spPr>
          <c:cat>
            <c:numRef>
              <c:f>'Chart Data'!$A$2:$A$17</c:f>
              <c:numCache>
                <c:formatCode>General</c:formatCode>
                <c:ptCount val="1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</c:numCache>
            </c:numRef>
          </c:cat>
          <c:val>
            <c:numRef>
              <c:f>'Chart Data'!$B$2:$B$17</c:f>
              <c:numCache>
                <c:formatCode>0.00</c:formatCode>
                <c:ptCount val="16"/>
                <c:pt idx="0">
                  <c:v>0.004950569447</c:v>
                </c:pt>
                <c:pt idx="1">
                  <c:v>0.005916164134</c:v>
                </c:pt>
                <c:pt idx="2">
                  <c:v>0.006709414342</c:v>
                </c:pt>
                <c:pt idx="3">
                  <c:v>0.007459806053</c:v>
                </c:pt>
                <c:pt idx="4">
                  <c:v>0.007150838066</c:v>
                </c:pt>
                <c:pt idx="5">
                  <c:v>0.008198602354</c:v>
                </c:pt>
                <c:pt idx="6">
                  <c:v>0.0083179525</c:v>
                </c:pt>
                <c:pt idx="7">
                  <c:v>0.008151478091</c:v>
                </c:pt>
                <c:pt idx="8">
                  <c:v>0.007473547753</c:v>
                </c:pt>
                <c:pt idx="9">
                  <c:v>0.007250542549</c:v>
                </c:pt>
                <c:pt idx="10">
                  <c:v>0.009066370074</c:v>
                </c:pt>
                <c:pt idx="11">
                  <c:v>0.009492333885</c:v>
                </c:pt>
                <c:pt idx="12">
                  <c:v>0.009129307823</c:v>
                </c:pt>
                <c:pt idx="13">
                  <c:v>0.01075985423</c:v>
                </c:pt>
                <c:pt idx="14">
                  <c:v>0.01280621587</c:v>
                </c:pt>
                <c:pt idx="15">
                  <c:v>0.01354196798</c:v>
                </c:pt>
              </c:numCache>
            </c:numRef>
          </c:val>
        </c:ser>
        <c:ser>
          <c:idx val="1"/>
          <c:order val="1"/>
          <c:tx>
            <c:v>P95</c:v>
          </c:tx>
          <c:spPr>
            <a:solidFill xmlns:a="http://schemas.openxmlformats.org/drawingml/2006/main">
              <a:srgbClr val="EE7015"/>
            </a:solidFill>
          </c:spPr>
          <c:cat>
            <c:numRef>
              <c:f>'Chart Data'!$C$2:$C$17</c:f>
              <c:numCache>
                <c:formatCode>General</c:formatCode>
                <c:ptCount val="1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</c:numCache>
            </c:numRef>
          </c:cat>
          <c:val>
            <c:numRef>
              <c:f>'Chart Data'!$D$2:$D$17</c:f>
              <c:numCache>
                <c:formatCode>0.00</c:formatCode>
                <c:ptCount val="16"/>
                <c:pt idx="0">
                  <c:v>0.01247735346</c:v>
                </c:pt>
                <c:pt idx="1">
                  <c:v>0.01515752612</c:v>
                </c:pt>
                <c:pt idx="2">
                  <c:v>0.01679135714</c:v>
                </c:pt>
                <c:pt idx="3">
                  <c:v>0.01888795117</c:v>
                </c:pt>
                <c:pt idx="4">
                  <c:v>0.01953722608</c:v>
                </c:pt>
                <c:pt idx="5">
                  <c:v>0.02082033418</c:v>
                </c:pt>
                <c:pt idx="6">
                  <c:v>0.02201788435</c:v>
                </c:pt>
                <c:pt idx="7">
                  <c:v>0.02219961987</c:v>
                </c:pt>
                <c:pt idx="8">
                  <c:v>0.01996861623</c:v>
                </c:pt>
                <c:pt idx="9">
                  <c:v>0.01926793971</c:v>
                </c:pt>
                <c:pt idx="10">
                  <c:v>0.0220814846</c:v>
                </c:pt>
                <c:pt idx="11">
                  <c:v>0.0249477634</c:v>
                </c:pt>
                <c:pt idx="12">
                  <c:v>0.02350824047</c:v>
                </c:pt>
                <c:pt idx="13">
                  <c:v>0.02968894571</c:v>
                </c:pt>
                <c:pt idx="14">
                  <c:v>0.03666363674</c:v>
                </c:pt>
                <c:pt idx="15">
                  <c:v>0.03598987162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频率 (GHz)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E7EA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nH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Qmin 绝对误差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 b="1">
              <a:solidFill>
                <a:srgbClr val="101828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MAE</c:v>
          </c:tx>
          <c:spPr>
            <a:solidFill xmlns:a="http://schemas.openxmlformats.org/drawingml/2006/main">
              <a:srgbClr val="1877D2"/>
            </a:solidFill>
          </c:spPr>
          <c:cat>
            <c:numRef>
              <c:f>'Chart Data'!$A$2:$A$17</c:f>
              <c:numCache>
                <c:formatCode>General</c:formatCode>
                <c:ptCount val="1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</c:numCache>
            </c:numRef>
          </c:cat>
          <c:val>
            <c:numRef>
              <c:f>'Chart Data'!$B$2:$B$17</c:f>
              <c:numCache>
                <c:formatCode>0.00</c:formatCode>
                <c:ptCount val="16"/>
                <c:pt idx="0">
                  <c:v>0.08183545164</c:v>
                </c:pt>
                <c:pt idx="1">
                  <c:v>0.09199562176</c:v>
                </c:pt>
                <c:pt idx="2">
                  <c:v>0.1037479392</c:v>
                </c:pt>
                <c:pt idx="3">
                  <c:v>0.1235504168</c:v>
                </c:pt>
                <c:pt idx="4">
                  <c:v>0.1375064109</c:v>
                </c:pt>
                <c:pt idx="5">
                  <c:v>0.1461839846</c:v>
                </c:pt>
                <c:pt idx="6">
                  <c:v>0.1492036034</c:v>
                </c:pt>
                <c:pt idx="7">
                  <c:v>0.1448549195</c:v>
                </c:pt>
                <c:pt idx="8">
                  <c:v>0.143429731</c:v>
                </c:pt>
                <c:pt idx="9">
                  <c:v>0.1481451733</c:v>
                </c:pt>
                <c:pt idx="10">
                  <c:v>0.162300497</c:v>
                </c:pt>
                <c:pt idx="11">
                  <c:v>0.1859204317</c:v>
                </c:pt>
                <c:pt idx="12">
                  <c:v>0.2142829918</c:v>
                </c:pt>
                <c:pt idx="13">
                  <c:v>0.2749003355</c:v>
                </c:pt>
                <c:pt idx="14">
                  <c:v>0.3442858152</c:v>
                </c:pt>
                <c:pt idx="15">
                  <c:v>0.3928484166</c:v>
                </c:pt>
              </c:numCache>
            </c:numRef>
          </c:val>
        </c:ser>
        <c:ser>
          <c:idx val="1"/>
          <c:order val="1"/>
          <c:tx>
            <c:v>P95</c:v>
          </c:tx>
          <c:spPr>
            <a:solidFill xmlns:a="http://schemas.openxmlformats.org/drawingml/2006/main">
              <a:srgbClr val="EE7015"/>
            </a:solidFill>
          </c:spPr>
          <c:cat>
            <c:numRef>
              <c:f>'Chart Data'!$C$2:$C$17</c:f>
              <c:numCache>
                <c:formatCode>General</c:formatCode>
                <c:ptCount val="1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</c:numCache>
            </c:numRef>
          </c:cat>
          <c:val>
            <c:numRef>
              <c:f>'Chart Data'!$D$2:$D$17</c:f>
              <c:numCache>
                <c:formatCode>0.00</c:formatCode>
                <c:ptCount val="16"/>
                <c:pt idx="0">
                  <c:v>0.2156462314</c:v>
                </c:pt>
                <c:pt idx="1">
                  <c:v>0.2335245731</c:v>
                </c:pt>
                <c:pt idx="2">
                  <c:v>0.2722166444</c:v>
                </c:pt>
                <c:pt idx="3">
                  <c:v>0.3111115256</c:v>
                </c:pt>
                <c:pt idx="4">
                  <c:v>0.3501611482</c:v>
                </c:pt>
                <c:pt idx="5">
                  <c:v>0.3857401253</c:v>
                </c:pt>
                <c:pt idx="6">
                  <c:v>0.3912662252</c:v>
                </c:pt>
                <c:pt idx="7">
                  <c:v>0.3864560924</c:v>
                </c:pt>
                <c:pt idx="8">
                  <c:v>0.3821938435</c:v>
                </c:pt>
                <c:pt idx="9">
                  <c:v>0.3986423348</c:v>
                </c:pt>
                <c:pt idx="10">
                  <c:v>0.4750670513</c:v>
                </c:pt>
                <c:pt idx="11">
                  <c:v>0.5317489449</c:v>
                </c:pt>
                <c:pt idx="12">
                  <c:v>0.5900573778</c:v>
                </c:pt>
                <c:pt idx="13">
                  <c:v>0.780670137</c:v>
                </c:pt>
                <c:pt idx="14">
                  <c:v>0.9490801691</c:v>
                </c:pt>
                <c:pt idx="15">
                  <c:v>1.127219442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频率 (GHz)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E7EA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无量纲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|k| 绝对误差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 b="1">
              <a:solidFill>
                <a:srgbClr val="101828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MAE</c:v>
          </c:tx>
          <c:spPr>
            <a:solidFill xmlns:a="http://schemas.openxmlformats.org/drawingml/2006/main">
              <a:srgbClr val="1877D2"/>
            </a:solidFill>
          </c:spPr>
          <c:cat>
            <c:numRef>
              <c:f>'Chart Data'!$A$2:$A$17</c:f>
              <c:numCache>
                <c:formatCode>General</c:formatCode>
                <c:ptCount val="1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</c:numCache>
            </c:numRef>
          </c:cat>
          <c:val>
            <c:numRef>
              <c:f>'Chart Data'!$B$2:$B$17</c:f>
              <c:numCache>
                <c:formatCode>0.000</c:formatCode>
                <c:ptCount val="16"/>
                <c:pt idx="0">
                  <c:v>0.005468598536</c:v>
                </c:pt>
                <c:pt idx="1">
                  <c:v>0.005743605851</c:v>
                </c:pt>
                <c:pt idx="2">
                  <c:v>0.005936727738</c:v>
                </c:pt>
                <c:pt idx="3">
                  <c:v>0.005952816734</c:v>
                </c:pt>
                <c:pt idx="4">
                  <c:v>0.006463678502</c:v>
                </c:pt>
                <c:pt idx="5">
                  <c:v>0.006181468185</c:v>
                </c:pt>
                <c:pt idx="6">
                  <c:v>0.00645634926</c:v>
                </c:pt>
                <c:pt idx="7">
                  <c:v>0.006047433124</c:v>
                </c:pt>
                <c:pt idx="8">
                  <c:v>0.006481958721</c:v>
                </c:pt>
                <c:pt idx="9">
                  <c:v>0.006442047234</c:v>
                </c:pt>
                <c:pt idx="10">
                  <c:v>0.007293296119</c:v>
                </c:pt>
                <c:pt idx="11">
                  <c:v>0.007941538608</c:v>
                </c:pt>
                <c:pt idx="12">
                  <c:v>0.01071277291</c:v>
                </c:pt>
                <c:pt idx="13">
                  <c:v>0.01700212085</c:v>
                </c:pt>
                <c:pt idx="14">
                  <c:v>0.02595256396</c:v>
                </c:pt>
                <c:pt idx="15">
                  <c:v>0.03141697601</c:v>
                </c:pt>
              </c:numCache>
            </c:numRef>
          </c:val>
        </c:ser>
        <c:ser>
          <c:idx val="1"/>
          <c:order val="1"/>
          <c:tx>
            <c:v>P95</c:v>
          </c:tx>
          <c:spPr>
            <a:solidFill xmlns:a="http://schemas.openxmlformats.org/drawingml/2006/main">
              <a:srgbClr val="EE7015"/>
            </a:solidFill>
          </c:spPr>
          <c:cat>
            <c:numRef>
              <c:f>'Chart Data'!$C$2:$C$17</c:f>
              <c:numCache>
                <c:formatCode>General</c:formatCode>
                <c:ptCount val="1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</c:numCache>
            </c:numRef>
          </c:cat>
          <c:val>
            <c:numRef>
              <c:f>'Chart Data'!$D$2:$D$17</c:f>
              <c:numCache>
                <c:formatCode>0.000</c:formatCode>
                <c:ptCount val="16"/>
                <c:pt idx="0">
                  <c:v>0.01551919504</c:v>
                </c:pt>
                <c:pt idx="1">
                  <c:v>0.01636290905</c:v>
                </c:pt>
                <c:pt idx="2">
                  <c:v>0.01739792597</c:v>
                </c:pt>
                <c:pt idx="3">
                  <c:v>0.01726125933</c:v>
                </c:pt>
                <c:pt idx="4">
                  <c:v>0.01853570856</c:v>
                </c:pt>
                <c:pt idx="5">
                  <c:v>0.01823026991</c:v>
                </c:pt>
                <c:pt idx="6">
                  <c:v>0.01907463711</c:v>
                </c:pt>
                <c:pt idx="7">
                  <c:v>0.01783308305</c:v>
                </c:pt>
                <c:pt idx="8">
                  <c:v>0.01914204381</c:v>
                </c:pt>
                <c:pt idx="9">
                  <c:v>0.01900023112</c:v>
                </c:pt>
                <c:pt idx="10">
                  <c:v>0.02062884679</c:v>
                </c:pt>
                <c:pt idx="11">
                  <c:v>0.02330150241</c:v>
                </c:pt>
                <c:pt idx="12">
                  <c:v>0.03099949894</c:v>
                </c:pt>
                <c:pt idx="13">
                  <c:v>0.04727455684</c:v>
                </c:pt>
                <c:pt idx="14">
                  <c:v>0.07443663241</c:v>
                </c:pt>
                <c:pt idx="15">
                  <c:v>0.09862273982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频率 (GHz)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E7EA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无量纲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网格代理响应与解析联合通过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 b="1">
              <a:solidFill>
                <a:srgbClr val="101828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响应命中</c:v>
          </c:tx>
          <c:spPr>
            <a:solidFill xmlns:a="http://schemas.openxmlformats.org/drawingml/2006/main">
              <a:srgbClr val="1877D2"/>
            </a:solidFill>
          </c:spPr>
          <c:cat>
            <c:numRef>
              <c:f>'Chart Data'!$A$2:$A$17</c:f>
              <c:numCache>
                <c:formatCode>General</c:formatCode>
                <c:ptCount val="1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</c:numCache>
            </c:numRef>
          </c:cat>
          <c:val>
            <c:numRef>
              <c:f>'Chart Data'!$B$2:$B$17</c:f>
              <c:numCache>
                <c:formatCode>0%</c:formatCode>
                <c:ptCount val="16"/>
                <c:pt idx="0">
                  <c:v>0.9012</c:v>
                </c:pt>
                <c:pt idx="1">
                  <c:v>0.9089</c:v>
                </c:pt>
                <c:pt idx="2">
                  <c:v>0.8974</c:v>
                </c:pt>
                <c:pt idx="3">
                  <c:v>0.8844</c:v>
                </c:pt>
                <c:pt idx="4">
                  <c:v>0.8901</c:v>
                </c:pt>
                <c:pt idx="5">
                  <c:v>0.894</c:v>
                </c:pt>
                <c:pt idx="6">
                  <c:v>0.8951</c:v>
                </c:pt>
                <c:pt idx="7">
                  <c:v>0.9093</c:v>
                </c:pt>
                <c:pt idx="8">
                  <c:v>0.9267</c:v>
                </c:pt>
                <c:pt idx="9">
                  <c:v>0.9419</c:v>
                </c:pt>
                <c:pt idx="10">
                  <c:v>0.951</c:v>
                </c:pt>
                <c:pt idx="11">
                  <c:v>0.9564</c:v>
                </c:pt>
                <c:pt idx="12">
                  <c:v>0.9832</c:v>
                </c:pt>
                <c:pt idx="13">
                  <c:v>0.987</c:v>
                </c:pt>
                <c:pt idx="14">
                  <c:v>0.951</c:v>
                </c:pt>
                <c:pt idx="15">
                  <c:v>0.951</c:v>
                </c:pt>
              </c:numCache>
            </c:numRef>
          </c:val>
        </c:ser>
        <c:ser>
          <c:idx val="1"/>
          <c:order val="1"/>
          <c:tx>
            <c:v>响应且解析通过</c:v>
          </c:tx>
          <c:spPr>
            <a:solidFill xmlns:a="http://schemas.openxmlformats.org/drawingml/2006/main">
              <a:srgbClr val="059D80"/>
            </a:solidFill>
          </c:spPr>
          <c:cat>
            <c:numRef>
              <c:f>'Chart Data'!$C$2:$C$17</c:f>
              <c:numCache>
                <c:formatCode>General</c:formatCode>
                <c:ptCount val="1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</c:numCache>
            </c:numRef>
          </c:cat>
          <c:val>
            <c:numRef>
              <c:f>'Chart Data'!$D$2:$D$17</c:f>
              <c:numCache>
                <c:formatCode>0%</c:formatCode>
                <c:ptCount val="16"/>
                <c:pt idx="0">
                  <c:v>0.9012</c:v>
                </c:pt>
                <c:pt idx="1">
                  <c:v>0.9089</c:v>
                </c:pt>
                <c:pt idx="2">
                  <c:v>0.8974</c:v>
                </c:pt>
                <c:pt idx="3">
                  <c:v>0.7498</c:v>
                </c:pt>
                <c:pt idx="4">
                  <c:v>0.8901</c:v>
                </c:pt>
                <c:pt idx="5">
                  <c:v>0.7936</c:v>
                </c:pt>
                <c:pt idx="6">
                  <c:v>0.8951</c:v>
                </c:pt>
                <c:pt idx="7">
                  <c:v>0.8217</c:v>
                </c:pt>
                <c:pt idx="8">
                  <c:v>0.8973</c:v>
                </c:pt>
                <c:pt idx="9">
                  <c:v>0.9379</c:v>
                </c:pt>
                <c:pt idx="10">
                  <c:v>0.9307</c:v>
                </c:pt>
                <c:pt idx="11">
                  <c:v>0.9507</c:v>
                </c:pt>
                <c:pt idx="12">
                  <c:v>0.9581</c:v>
                </c:pt>
                <c:pt idx="13">
                  <c:v>0.8965</c:v>
                </c:pt>
                <c:pt idx="14">
                  <c:v>0.8983</c:v>
                </c:pt>
                <c:pt idx="15">
                  <c:v>0.937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频率 (GHz)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E7EA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原请求比例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逐频率已完成的独立求解数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 b="1">
              <a:solidFill>
                <a:srgbClr val="101828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stacked"/>
        <c:varyColors val="0"/>
        <c:ser>
          <c:idx val="0"/>
          <c:order val="0"/>
          <c:tx>
            <c:v>strict有效</c:v>
          </c:tx>
          <c:spPr>
            <a:solidFill xmlns:a="http://schemas.openxmlformats.org/drawingml/2006/main">
              <a:srgbClr val="059D80"/>
            </a:solidFill>
          </c:spPr>
          <c:cat>
            <c:strRef>
              <c:f>'Chart Data'!$A$2:$A$17</c:f>
              <c:strCache>
                <c:ptCount val="1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15*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</c:strCache>
            </c:strRef>
          </c:cat>
          <c:val>
            <c:numRef>
              <c:f>'Chart Data'!$B$2:$B$17</c:f>
              <c:numCache>
                <c:formatCode>0</c:formatCode>
                <c:ptCount val="16"/>
                <c:pt idx="0">
                  <c:v>28</c:v>
                </c:pt>
                <c:pt idx="1">
                  <c:v>24</c:v>
                </c:pt>
                <c:pt idx="2">
                  <c:v>26</c:v>
                </c:pt>
                <c:pt idx="3">
                  <c:v>26</c:v>
                </c:pt>
                <c:pt idx="4">
                  <c:v>30</c:v>
                </c:pt>
                <c:pt idx="5">
                  <c:v>27</c:v>
                </c:pt>
                <c:pt idx="6">
                  <c:v>17</c:v>
                </c:pt>
                <c:pt idx="7">
                  <c:v>20</c:v>
                </c:pt>
                <c:pt idx="8">
                  <c:v>16</c:v>
                </c:pt>
                <c:pt idx="9">
                  <c:v>22</c:v>
                </c:pt>
                <c:pt idx="10">
                  <c:v>22</c:v>
                </c:pt>
                <c:pt idx="11">
                  <c:v>15</c:v>
                </c:pt>
                <c:pt idx="12">
                  <c:v>9</c:v>
                </c:pt>
                <c:pt idx="13">
                  <c:v>19</c:v>
                </c:pt>
                <c:pt idx="14">
                  <c:v>13</c:v>
                </c:pt>
                <c:pt idx="15">
                  <c:v>25</c:v>
                </c:pt>
              </c:numCache>
            </c:numRef>
          </c:val>
        </c:ser>
        <c:ser>
          <c:idx val="1"/>
          <c:order val="1"/>
          <c:tx>
            <c:v>strict无效</c:v>
          </c:tx>
          <c:spPr>
            <a:solidFill xmlns:a="http://schemas.openxmlformats.org/drawingml/2006/main">
              <a:srgbClr val="EE7015"/>
            </a:solidFill>
          </c:spPr>
          <c:cat>
            <c:strRef>
              <c:f>'Chart Data'!$C$2:$C$17</c:f>
              <c:strCache>
                <c:ptCount val="1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15*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</c:strCache>
            </c:strRef>
          </c:cat>
          <c:val>
            <c:numRef>
              <c:f>'Chart Data'!$D$2:$D$17</c:f>
              <c:numCache>
                <c:formatCode>0</c:formatCode>
                <c:ptCount val="1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3</c:v>
                </c:pt>
                <c:pt idx="11">
                  <c:v>0</c:v>
                </c:pt>
                <c:pt idx="12">
                  <c:v>2</c:v>
                </c:pt>
                <c:pt idx="13">
                  <c:v>2</c:v>
                </c:pt>
                <c:pt idx="14">
                  <c:v>3</c:v>
                </c:pt>
                <c:pt idx="15">
                  <c:v>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latin typeface="Helvetica Neue"/>
                  <a:ea typeface="Helvetica Neue"/>
                  <a:cs typeface="Helvetica Neue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频率 (GHz)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33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E7EA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求解数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四指标对原目标的绝对百分比误差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 b="1">
              <a:solidFill>
                <a:srgbClr val="101828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绝对百分比误差</c:v>
          </c:tx>
          <c:spPr>
            <a:solidFill xmlns:a="http://schemas.openxmlformats.org/drawingml/2006/main">
              <a:srgbClr val="1877D2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00" b="1">
                        <a:latin typeface="Helvetica Neue"/>
                        <a:ea typeface="Helvetica Neue"/>
                        <a:cs typeface="Helvetica Neue"/>
                      </a:rPr>
                      <a:t>1.57%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latin typeface="Helvetica Neue"/>
                      <a:ea typeface="Helvetica Neue"/>
                      <a:cs typeface="Helvetica Neue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00" b="1">
                        <a:latin typeface="Helvetica Neue"/>
                        <a:ea typeface="Helvetica Neue"/>
                        <a:cs typeface="Helvetica Neue"/>
                      </a:rPr>
                      <a:t>1.45%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latin typeface="Helvetica Neue"/>
                      <a:ea typeface="Helvetica Neue"/>
                      <a:cs typeface="Helvetica Neue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00" b="1">
                        <a:latin typeface="Helvetica Neue"/>
                        <a:ea typeface="Helvetica Neue"/>
                        <a:cs typeface="Helvetica Neue"/>
                      </a:rPr>
                      <a:t>3.57%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latin typeface="Helvetica Neue"/>
                      <a:ea typeface="Helvetica Neue"/>
                      <a:cs typeface="Helvetica Neue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00" b="1">
                        <a:latin typeface="Helvetica Neue"/>
                        <a:ea typeface="Helvetica Neue"/>
                        <a:cs typeface="Helvetica Neue"/>
                      </a:rPr>
                      <a:t>31.28%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latin typeface="Helvetica Neue"/>
                      <a:ea typeface="Helvetica Neue"/>
                      <a:cs typeface="Helvetica Neue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Data'!$A$2:$A$5</c:f>
              <c:strCache>
                <c:ptCount val="4"/>
                <c:pt idx="0">
                  <c:v>Lp</c:v>
                </c:pt>
                <c:pt idx="1">
                  <c:v>Ls</c:v>
                </c:pt>
                <c:pt idx="2">
                  <c:v>Qmin</c:v>
                </c:pt>
                <c:pt idx="3">
                  <c:v>|k|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1.566988212</c:v>
                </c:pt>
                <c:pt idx="1">
                  <c:v>1.447840898</c:v>
                </c:pt>
                <c:pt idx="2">
                  <c:v>3.572524708</c:v>
                </c:pt>
                <c:pt idx="3">
                  <c:v>31.27710869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四物理指标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E7EA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误差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正向 log10(validation loss)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 b="1">
              <a:solidFill>
                <a:srgbClr val="101828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validation</c:v>
          </c:tx>
          <c:spPr>
            <a:ln xmlns:a="http://schemas.openxmlformats.org/drawingml/2006/main" w="19050">
              <a:solidFill>
                <a:srgbClr val="1877D2"/>
              </a:solidFill>
            </a:ln>
          </c:spPr>
          <c:marker>
            <c:symbol val="none"/>
          </c:marker>
          <c:cat>
            <c:numRef>
              <c:f>'Chart Data'!$A$2:$A$122</c:f>
              <c:numCache>
                <c:formatCode>General</c:formatCode>
                <c:ptCount val="121"/>
                <c:pt idx="0">
                  <c:v>1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  <c:pt idx="4">
                  <c:v>400</c:v>
                </c:pt>
                <c:pt idx="5">
                  <c:v>500</c:v>
                </c:pt>
                <c:pt idx="6">
                  <c:v>600</c:v>
                </c:pt>
                <c:pt idx="7">
                  <c:v>700</c:v>
                </c:pt>
                <c:pt idx="8">
                  <c:v>800</c:v>
                </c:pt>
                <c:pt idx="9">
                  <c:v>900</c:v>
                </c:pt>
                <c:pt idx="10">
                  <c:v>1000</c:v>
                </c:pt>
                <c:pt idx="11">
                  <c:v>1100</c:v>
                </c:pt>
                <c:pt idx="12">
                  <c:v>1200</c:v>
                </c:pt>
                <c:pt idx="13">
                  <c:v>1300</c:v>
                </c:pt>
                <c:pt idx="14">
                  <c:v>1400</c:v>
                </c:pt>
                <c:pt idx="15">
                  <c:v>1500</c:v>
                </c:pt>
                <c:pt idx="16">
                  <c:v>1600</c:v>
                </c:pt>
                <c:pt idx="17">
                  <c:v>1700</c:v>
                </c:pt>
                <c:pt idx="18">
                  <c:v>1800</c:v>
                </c:pt>
                <c:pt idx="19">
                  <c:v>1900</c:v>
                </c:pt>
                <c:pt idx="20">
                  <c:v>2000</c:v>
                </c:pt>
                <c:pt idx="21">
                  <c:v>2100</c:v>
                </c:pt>
                <c:pt idx="22">
                  <c:v>2200</c:v>
                </c:pt>
                <c:pt idx="23">
                  <c:v>2300</c:v>
                </c:pt>
                <c:pt idx="24">
                  <c:v>2400</c:v>
                </c:pt>
                <c:pt idx="25">
                  <c:v>2500</c:v>
                </c:pt>
                <c:pt idx="26">
                  <c:v>2600</c:v>
                </c:pt>
                <c:pt idx="27">
                  <c:v>2700</c:v>
                </c:pt>
                <c:pt idx="28">
                  <c:v>2800</c:v>
                </c:pt>
                <c:pt idx="29">
                  <c:v>2900</c:v>
                </c:pt>
                <c:pt idx="30">
                  <c:v>3000</c:v>
                </c:pt>
                <c:pt idx="31">
                  <c:v>3100</c:v>
                </c:pt>
                <c:pt idx="32">
                  <c:v>3200</c:v>
                </c:pt>
                <c:pt idx="33">
                  <c:v>3300</c:v>
                </c:pt>
                <c:pt idx="34">
                  <c:v>3400</c:v>
                </c:pt>
                <c:pt idx="35">
                  <c:v>3500</c:v>
                </c:pt>
                <c:pt idx="36">
                  <c:v>3600</c:v>
                </c:pt>
                <c:pt idx="37">
                  <c:v>3700</c:v>
                </c:pt>
                <c:pt idx="38">
                  <c:v>3800</c:v>
                </c:pt>
                <c:pt idx="39">
                  <c:v>3900</c:v>
                </c:pt>
                <c:pt idx="40">
                  <c:v>4000</c:v>
                </c:pt>
                <c:pt idx="41">
                  <c:v>4100</c:v>
                </c:pt>
                <c:pt idx="42">
                  <c:v>4200</c:v>
                </c:pt>
                <c:pt idx="43">
                  <c:v>4300</c:v>
                </c:pt>
                <c:pt idx="44">
                  <c:v>4400</c:v>
                </c:pt>
                <c:pt idx="45">
                  <c:v>4500</c:v>
                </c:pt>
                <c:pt idx="46">
                  <c:v>4600</c:v>
                </c:pt>
                <c:pt idx="47">
                  <c:v>4700</c:v>
                </c:pt>
                <c:pt idx="48">
                  <c:v>4800</c:v>
                </c:pt>
                <c:pt idx="49">
                  <c:v>4900</c:v>
                </c:pt>
                <c:pt idx="50">
                  <c:v>5000</c:v>
                </c:pt>
                <c:pt idx="51">
                  <c:v>5100</c:v>
                </c:pt>
                <c:pt idx="52">
                  <c:v>5200</c:v>
                </c:pt>
                <c:pt idx="53">
                  <c:v>5300</c:v>
                </c:pt>
                <c:pt idx="54">
                  <c:v>5400</c:v>
                </c:pt>
                <c:pt idx="55">
                  <c:v>5500</c:v>
                </c:pt>
                <c:pt idx="56">
                  <c:v>5600</c:v>
                </c:pt>
                <c:pt idx="57">
                  <c:v>5700</c:v>
                </c:pt>
                <c:pt idx="58">
                  <c:v>5800</c:v>
                </c:pt>
                <c:pt idx="59">
                  <c:v>5900</c:v>
                </c:pt>
                <c:pt idx="60">
                  <c:v>6000</c:v>
                </c:pt>
                <c:pt idx="61">
                  <c:v>6100</c:v>
                </c:pt>
                <c:pt idx="62">
                  <c:v>6200</c:v>
                </c:pt>
                <c:pt idx="63">
                  <c:v>6300</c:v>
                </c:pt>
                <c:pt idx="64">
                  <c:v>6400</c:v>
                </c:pt>
                <c:pt idx="65">
                  <c:v>6500</c:v>
                </c:pt>
                <c:pt idx="66">
                  <c:v>6600</c:v>
                </c:pt>
                <c:pt idx="67">
                  <c:v>6700</c:v>
                </c:pt>
                <c:pt idx="68">
                  <c:v>6800</c:v>
                </c:pt>
                <c:pt idx="69">
                  <c:v>6900</c:v>
                </c:pt>
                <c:pt idx="70">
                  <c:v>7000</c:v>
                </c:pt>
                <c:pt idx="71">
                  <c:v>7100</c:v>
                </c:pt>
                <c:pt idx="72">
                  <c:v>7200</c:v>
                </c:pt>
                <c:pt idx="73">
                  <c:v>7300</c:v>
                </c:pt>
                <c:pt idx="74">
                  <c:v>7400</c:v>
                </c:pt>
                <c:pt idx="75">
                  <c:v>7500</c:v>
                </c:pt>
                <c:pt idx="76">
                  <c:v>7600</c:v>
                </c:pt>
                <c:pt idx="77">
                  <c:v>7700</c:v>
                </c:pt>
                <c:pt idx="78">
                  <c:v>7800</c:v>
                </c:pt>
                <c:pt idx="79">
                  <c:v>7900</c:v>
                </c:pt>
                <c:pt idx="80">
                  <c:v>8000</c:v>
                </c:pt>
                <c:pt idx="81">
                  <c:v>8100</c:v>
                </c:pt>
                <c:pt idx="82">
                  <c:v>8200</c:v>
                </c:pt>
                <c:pt idx="83">
                  <c:v>8300</c:v>
                </c:pt>
                <c:pt idx="84">
                  <c:v>8400</c:v>
                </c:pt>
                <c:pt idx="85">
                  <c:v>8500</c:v>
                </c:pt>
                <c:pt idx="86">
                  <c:v>8600</c:v>
                </c:pt>
                <c:pt idx="87">
                  <c:v>8700</c:v>
                </c:pt>
                <c:pt idx="88">
                  <c:v>8800</c:v>
                </c:pt>
                <c:pt idx="89">
                  <c:v>8900</c:v>
                </c:pt>
                <c:pt idx="90">
                  <c:v>9000</c:v>
                </c:pt>
                <c:pt idx="91">
                  <c:v>9100</c:v>
                </c:pt>
                <c:pt idx="92">
                  <c:v>9200</c:v>
                </c:pt>
                <c:pt idx="93">
                  <c:v>9300</c:v>
                </c:pt>
                <c:pt idx="94">
                  <c:v>9400</c:v>
                </c:pt>
                <c:pt idx="95">
                  <c:v>9500</c:v>
                </c:pt>
                <c:pt idx="96">
                  <c:v>9600</c:v>
                </c:pt>
                <c:pt idx="97">
                  <c:v>9700</c:v>
                </c:pt>
                <c:pt idx="98">
                  <c:v>9800</c:v>
                </c:pt>
                <c:pt idx="99">
                  <c:v>9900</c:v>
                </c:pt>
                <c:pt idx="100">
                  <c:v>10000</c:v>
                </c:pt>
                <c:pt idx="101">
                  <c:v>10100</c:v>
                </c:pt>
                <c:pt idx="102">
                  <c:v>10200</c:v>
                </c:pt>
                <c:pt idx="103">
                  <c:v>10300</c:v>
                </c:pt>
                <c:pt idx="104">
                  <c:v>10400</c:v>
                </c:pt>
                <c:pt idx="105">
                  <c:v>10500</c:v>
                </c:pt>
                <c:pt idx="106">
                  <c:v>10600</c:v>
                </c:pt>
                <c:pt idx="107">
                  <c:v>10700</c:v>
                </c:pt>
                <c:pt idx="108">
                  <c:v>10800</c:v>
                </c:pt>
                <c:pt idx="109">
                  <c:v>10900</c:v>
                </c:pt>
                <c:pt idx="110">
                  <c:v>11000</c:v>
                </c:pt>
                <c:pt idx="111">
                  <c:v>11100</c:v>
                </c:pt>
                <c:pt idx="112">
                  <c:v>11200</c:v>
                </c:pt>
                <c:pt idx="113">
                  <c:v>11300</c:v>
                </c:pt>
                <c:pt idx="114">
                  <c:v>11400</c:v>
                </c:pt>
                <c:pt idx="115">
                  <c:v>11500</c:v>
                </c:pt>
                <c:pt idx="116">
                  <c:v>11600</c:v>
                </c:pt>
                <c:pt idx="117">
                  <c:v>11700</c:v>
                </c:pt>
                <c:pt idx="118">
                  <c:v>11800</c:v>
                </c:pt>
                <c:pt idx="119">
                  <c:v>11900</c:v>
                </c:pt>
                <c:pt idx="120">
                  <c:v>12000</c:v>
                </c:pt>
              </c:numCache>
            </c:numRef>
          </c:cat>
          <c:val>
            <c:numRef>
              <c:f>'Chart Data'!$B$2:$B$122</c:f>
              <c:numCache>
                <c:formatCode>0.0</c:formatCode>
                <c:ptCount val="121"/>
                <c:pt idx="0">
                  <c:v>0.000770107528</c:v>
                </c:pt>
                <c:pt idx="1">
                  <c:v>-0.3599863126</c:v>
                </c:pt>
                <c:pt idx="2">
                  <c:v>-0.4733423088</c:v>
                </c:pt>
                <c:pt idx="3">
                  <c:v>-0.519330289</c:v>
                </c:pt>
                <c:pt idx="4">
                  <c:v>-0.5465590608</c:v>
                </c:pt>
                <c:pt idx="5">
                  <c:v>-0.5751071066</c:v>
                </c:pt>
                <c:pt idx="6">
                  <c:v>-0.6211912079</c:v>
                </c:pt>
                <c:pt idx="7">
                  <c:v>-0.6333053789</c:v>
                </c:pt>
                <c:pt idx="8">
                  <c:v>-0.654590867</c:v>
                </c:pt>
                <c:pt idx="9">
                  <c:v>-0.6627761639</c:v>
                </c:pt>
                <c:pt idx="10">
                  <c:v>-0.675193153</c:v>
                </c:pt>
                <c:pt idx="11">
                  <c:v>-0.6824831895</c:v>
                </c:pt>
                <c:pt idx="12">
                  <c:v>-0.6949130073</c:v>
                </c:pt>
                <c:pt idx="13">
                  <c:v>-0.6956347087</c:v>
                </c:pt>
                <c:pt idx="14">
                  <c:v>-0.6927522355</c:v>
                </c:pt>
                <c:pt idx="15">
                  <c:v>-0.71402392</c:v>
                </c:pt>
                <c:pt idx="16">
                  <c:v>-0.7209098474</c:v>
                </c:pt>
                <c:pt idx="17">
                  <c:v>-0.7307108749</c:v>
                </c:pt>
                <c:pt idx="18">
                  <c:v>-0.7334553096</c:v>
                </c:pt>
                <c:pt idx="19">
                  <c:v>-0.7486859761</c:v>
                </c:pt>
                <c:pt idx="20">
                  <c:v>-0.7669662341</c:v>
                </c:pt>
                <c:pt idx="21">
                  <c:v>-0.7722151091</c:v>
                </c:pt>
                <c:pt idx="22">
                  <c:v>-0.7691817599</c:v>
                </c:pt>
                <c:pt idx="23">
                  <c:v>-0.7767748798</c:v>
                </c:pt>
                <c:pt idx="24">
                  <c:v>-0.7997198944</c:v>
                </c:pt>
                <c:pt idx="25">
                  <c:v>-0.8052815139</c:v>
                </c:pt>
                <c:pt idx="26">
                  <c:v>-0.822865381</c:v>
                </c:pt>
                <c:pt idx="27">
                  <c:v>-0.8371392758</c:v>
                </c:pt>
                <c:pt idx="28">
                  <c:v>-0.8580100682</c:v>
                </c:pt>
                <c:pt idx="29">
                  <c:v>-0.8730063133</c:v>
                </c:pt>
                <c:pt idx="30">
                  <c:v>-0.8787534603</c:v>
                </c:pt>
                <c:pt idx="31">
                  <c:v>-0.8741119781</c:v>
                </c:pt>
                <c:pt idx="32">
                  <c:v>-0.9030502499</c:v>
                </c:pt>
                <c:pt idx="33">
                  <c:v>-0.9168495454</c:v>
                </c:pt>
                <c:pt idx="34">
                  <c:v>-0.918006305</c:v>
                </c:pt>
                <c:pt idx="35">
                  <c:v>-0.9251744204</c:v>
                </c:pt>
                <c:pt idx="36">
                  <c:v>-0.9262520603</c:v>
                </c:pt>
                <c:pt idx="37">
                  <c:v>-0.9439718007</c:v>
                </c:pt>
                <c:pt idx="38">
                  <c:v>-0.9455470254</c:v>
                </c:pt>
                <c:pt idx="39">
                  <c:v>-0.9504500726</c:v>
                </c:pt>
                <c:pt idx="40">
                  <c:v>-0.9493968852</c:v>
                </c:pt>
                <c:pt idx="41">
                  <c:v>-0.9413627973</c:v>
                </c:pt>
                <c:pt idx="42">
                  <c:v>-0.9598415091</c:v>
                </c:pt>
                <c:pt idx="43">
                  <c:v>-0.9427789369</c:v>
                </c:pt>
                <c:pt idx="44">
                  <c:v>-0.9507622373</c:v>
                </c:pt>
                <c:pt idx="45">
                  <c:v>-0.9836474503</c:v>
                </c:pt>
                <c:pt idx="46">
                  <c:v>-0.9804445047</c:v>
                </c:pt>
                <c:pt idx="47">
                  <c:v>-0.9807231631</c:v>
                </c:pt>
                <c:pt idx="48">
                  <c:v>-0.9907769343</c:v>
                </c:pt>
                <c:pt idx="49">
                  <c:v>-0.9963986406</c:v>
                </c:pt>
                <c:pt idx="50">
                  <c:v>-1.000276872</c:v>
                </c:pt>
                <c:pt idx="51">
                  <c:v>-1.000455768</c:v>
                </c:pt>
                <c:pt idx="52">
                  <c:v>-0.9944271789</c:v>
                </c:pt>
                <c:pt idx="53">
                  <c:v>-1.013916861</c:v>
                </c:pt>
                <c:pt idx="54">
                  <c:v>-1.006460014</c:v>
                </c:pt>
                <c:pt idx="55">
                  <c:v>-1.021291688</c:v>
                </c:pt>
                <c:pt idx="56">
                  <c:v>-1.029515517</c:v>
                </c:pt>
                <c:pt idx="57">
                  <c:v>-0.9943229149</c:v>
                </c:pt>
                <c:pt idx="58">
                  <c:v>-1.021352479</c:v>
                </c:pt>
                <c:pt idx="59">
                  <c:v>-1.017530901</c:v>
                </c:pt>
                <c:pt idx="60">
                  <c:v>-1.025919437</c:v>
                </c:pt>
                <c:pt idx="61">
                  <c:v>-1.021961376</c:v>
                </c:pt>
                <c:pt idx="62">
                  <c:v>-1.028770297</c:v>
                </c:pt>
                <c:pt idx="63">
                  <c:v>-1.019031474</c:v>
                </c:pt>
                <c:pt idx="64">
                  <c:v>-1.030917222</c:v>
                </c:pt>
                <c:pt idx="65">
                  <c:v>-1.020339281</c:v>
                </c:pt>
                <c:pt idx="66">
                  <c:v>-1.049000417</c:v>
                </c:pt>
                <c:pt idx="67">
                  <c:v>-1.042658611</c:v>
                </c:pt>
                <c:pt idx="68">
                  <c:v>-1.034530663</c:v>
                </c:pt>
                <c:pt idx="69">
                  <c:v>-1.038849721</c:v>
                </c:pt>
                <c:pt idx="70">
                  <c:v>-1.042261</c:v>
                </c:pt>
                <c:pt idx="71">
                  <c:v>-1.049881954</c:v>
                </c:pt>
                <c:pt idx="72">
                  <c:v>-1.039418852</c:v>
                </c:pt>
                <c:pt idx="73">
                  <c:v>-1.055833956</c:v>
                </c:pt>
                <c:pt idx="74">
                  <c:v>-1.054323803</c:v>
                </c:pt>
                <c:pt idx="75">
                  <c:v>-1.048887485</c:v>
                </c:pt>
                <c:pt idx="76">
                  <c:v>-1.038660925</c:v>
                </c:pt>
                <c:pt idx="77">
                  <c:v>-1.047012232</c:v>
                </c:pt>
                <c:pt idx="78">
                  <c:v>-1.035901167</c:v>
                </c:pt>
                <c:pt idx="79">
                  <c:v>-1.047385665</c:v>
                </c:pt>
                <c:pt idx="80">
                  <c:v>-1.046471819</c:v>
                </c:pt>
                <c:pt idx="81">
                  <c:v>-1.061132359</c:v>
                </c:pt>
                <c:pt idx="82">
                  <c:v>-1.076290149</c:v>
                </c:pt>
                <c:pt idx="83">
                  <c:v>-1.063869413</c:v>
                </c:pt>
                <c:pt idx="84">
                  <c:v>-1.047535977</c:v>
                </c:pt>
                <c:pt idx="85">
                  <c:v>-1.072518697</c:v>
                </c:pt>
                <c:pt idx="86">
                  <c:v>-1.05727645</c:v>
                </c:pt>
                <c:pt idx="87">
                  <c:v>-1.063129445</c:v>
                </c:pt>
                <c:pt idx="88">
                  <c:v>-1.070186899</c:v>
                </c:pt>
                <c:pt idx="89">
                  <c:v>-1.062617992</c:v>
                </c:pt>
                <c:pt idx="90">
                  <c:v>-1.076190858</c:v>
                </c:pt>
                <c:pt idx="91">
                  <c:v>-1.074487381</c:v>
                </c:pt>
                <c:pt idx="92">
                  <c:v>-1.060345439</c:v>
                </c:pt>
                <c:pt idx="93">
                  <c:v>-1.068311496</c:v>
                </c:pt>
                <c:pt idx="94">
                  <c:v>-1.078477984</c:v>
                </c:pt>
                <c:pt idx="95">
                  <c:v>-1.085666005</c:v>
                </c:pt>
                <c:pt idx="96">
                  <c:v>-1.075665611</c:v>
                </c:pt>
                <c:pt idx="97">
                  <c:v>-1.090875606</c:v>
                </c:pt>
                <c:pt idx="98">
                  <c:v>-1.077253957</c:v>
                </c:pt>
                <c:pt idx="99">
                  <c:v>-1.0778734</c:v>
                </c:pt>
                <c:pt idx="100">
                  <c:v>-1.0786217</c:v>
                </c:pt>
                <c:pt idx="101">
                  <c:v>-1.084812485</c:v>
                </c:pt>
                <c:pt idx="102">
                  <c:v>-1.070777548</c:v>
                </c:pt>
                <c:pt idx="103">
                  <c:v>-1.077721478</c:v>
                </c:pt>
                <c:pt idx="104">
                  <c:v>-1.08094593</c:v>
                </c:pt>
                <c:pt idx="105">
                  <c:v>-1.087343923</c:v>
                </c:pt>
                <c:pt idx="106">
                  <c:v>-1.077130383</c:v>
                </c:pt>
                <c:pt idx="107">
                  <c:v>-1.083503696</c:v>
                </c:pt>
                <c:pt idx="108">
                  <c:v>-1.08556757</c:v>
                </c:pt>
                <c:pt idx="109">
                  <c:v>-1.082119762</c:v>
                </c:pt>
                <c:pt idx="110">
                  <c:v>-1.093152091</c:v>
                </c:pt>
                <c:pt idx="111">
                  <c:v>-1.080131538</c:v>
                </c:pt>
                <c:pt idx="112">
                  <c:v>-1.095305657</c:v>
                </c:pt>
                <c:pt idx="113">
                  <c:v>-1.084260667</c:v>
                </c:pt>
                <c:pt idx="114">
                  <c:v>-1.069711439</c:v>
                </c:pt>
                <c:pt idx="115">
                  <c:v>-1.085743817</c:v>
                </c:pt>
                <c:pt idx="116">
                  <c:v>-1.098827993</c:v>
                </c:pt>
                <c:pt idx="117">
                  <c:v>-1.096565113</c:v>
                </c:pt>
                <c:pt idx="118">
                  <c:v>-1.100640892</c:v>
                </c:pt>
                <c:pt idx="119">
                  <c:v>-1.099523116</c:v>
                </c:pt>
                <c:pt idx="120">
                  <c:v>-1.098697594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optimizer update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0.5"/>
          <c:min val="-2"/>
        </c:scaling>
        <c:delete val="0"/>
        <c:axPos val="l"/>
        <c:majorGridlines>
          <c:spPr>
            <a:ln xmlns:a="http://schemas.openxmlformats.org/drawingml/2006/main" w="4763">
              <a:solidFill>
                <a:srgbClr val="E7EA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log10(loss)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反向 log10(validation loss)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 b="1">
              <a:solidFill>
                <a:srgbClr val="101828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validation</c:v>
          </c:tx>
          <c:spPr>
            <a:ln xmlns:a="http://schemas.openxmlformats.org/drawingml/2006/main" w="19050">
              <a:solidFill>
                <a:srgbClr val="059D80"/>
              </a:solidFill>
            </a:ln>
          </c:spPr>
          <c:marker>
            <c:symbol val="none"/>
          </c:marker>
          <c:cat>
            <c:numRef>
              <c:f>'Chart Data'!$A$2:$A$122</c:f>
              <c:numCache>
                <c:formatCode>General</c:formatCode>
                <c:ptCount val="121"/>
                <c:pt idx="0">
                  <c:v>1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  <c:pt idx="4">
                  <c:v>400</c:v>
                </c:pt>
                <c:pt idx="5">
                  <c:v>500</c:v>
                </c:pt>
                <c:pt idx="6">
                  <c:v>600</c:v>
                </c:pt>
                <c:pt idx="7">
                  <c:v>700</c:v>
                </c:pt>
                <c:pt idx="8">
                  <c:v>800</c:v>
                </c:pt>
                <c:pt idx="9">
                  <c:v>900</c:v>
                </c:pt>
                <c:pt idx="10">
                  <c:v>1000</c:v>
                </c:pt>
                <c:pt idx="11">
                  <c:v>1100</c:v>
                </c:pt>
                <c:pt idx="12">
                  <c:v>1200</c:v>
                </c:pt>
                <c:pt idx="13">
                  <c:v>1300</c:v>
                </c:pt>
                <c:pt idx="14">
                  <c:v>1400</c:v>
                </c:pt>
                <c:pt idx="15">
                  <c:v>1500</c:v>
                </c:pt>
                <c:pt idx="16">
                  <c:v>1600</c:v>
                </c:pt>
                <c:pt idx="17">
                  <c:v>1700</c:v>
                </c:pt>
                <c:pt idx="18">
                  <c:v>1800</c:v>
                </c:pt>
                <c:pt idx="19">
                  <c:v>1900</c:v>
                </c:pt>
                <c:pt idx="20">
                  <c:v>2000</c:v>
                </c:pt>
                <c:pt idx="21">
                  <c:v>2100</c:v>
                </c:pt>
                <c:pt idx="22">
                  <c:v>2200</c:v>
                </c:pt>
                <c:pt idx="23">
                  <c:v>2300</c:v>
                </c:pt>
                <c:pt idx="24">
                  <c:v>2400</c:v>
                </c:pt>
                <c:pt idx="25">
                  <c:v>2500</c:v>
                </c:pt>
                <c:pt idx="26">
                  <c:v>2600</c:v>
                </c:pt>
                <c:pt idx="27">
                  <c:v>2700</c:v>
                </c:pt>
                <c:pt idx="28">
                  <c:v>2800</c:v>
                </c:pt>
                <c:pt idx="29">
                  <c:v>2900</c:v>
                </c:pt>
                <c:pt idx="30">
                  <c:v>3000</c:v>
                </c:pt>
                <c:pt idx="31">
                  <c:v>3100</c:v>
                </c:pt>
                <c:pt idx="32">
                  <c:v>3200</c:v>
                </c:pt>
                <c:pt idx="33">
                  <c:v>3300</c:v>
                </c:pt>
                <c:pt idx="34">
                  <c:v>3400</c:v>
                </c:pt>
                <c:pt idx="35">
                  <c:v>3500</c:v>
                </c:pt>
                <c:pt idx="36">
                  <c:v>3600</c:v>
                </c:pt>
                <c:pt idx="37">
                  <c:v>3700</c:v>
                </c:pt>
                <c:pt idx="38">
                  <c:v>3800</c:v>
                </c:pt>
                <c:pt idx="39">
                  <c:v>3900</c:v>
                </c:pt>
                <c:pt idx="40">
                  <c:v>4000</c:v>
                </c:pt>
                <c:pt idx="41">
                  <c:v>4100</c:v>
                </c:pt>
                <c:pt idx="42">
                  <c:v>4200</c:v>
                </c:pt>
                <c:pt idx="43">
                  <c:v>4300</c:v>
                </c:pt>
                <c:pt idx="44">
                  <c:v>4400</c:v>
                </c:pt>
                <c:pt idx="45">
                  <c:v>4500</c:v>
                </c:pt>
                <c:pt idx="46">
                  <c:v>4600</c:v>
                </c:pt>
                <c:pt idx="47">
                  <c:v>4700</c:v>
                </c:pt>
                <c:pt idx="48">
                  <c:v>4800</c:v>
                </c:pt>
                <c:pt idx="49">
                  <c:v>4900</c:v>
                </c:pt>
                <c:pt idx="50">
                  <c:v>5000</c:v>
                </c:pt>
                <c:pt idx="51">
                  <c:v>5100</c:v>
                </c:pt>
                <c:pt idx="52">
                  <c:v>5200</c:v>
                </c:pt>
                <c:pt idx="53">
                  <c:v>5300</c:v>
                </c:pt>
                <c:pt idx="54">
                  <c:v>5400</c:v>
                </c:pt>
                <c:pt idx="55">
                  <c:v>5500</c:v>
                </c:pt>
                <c:pt idx="56">
                  <c:v>5600</c:v>
                </c:pt>
                <c:pt idx="57">
                  <c:v>5700</c:v>
                </c:pt>
                <c:pt idx="58">
                  <c:v>5800</c:v>
                </c:pt>
                <c:pt idx="59">
                  <c:v>5900</c:v>
                </c:pt>
                <c:pt idx="60">
                  <c:v>6000</c:v>
                </c:pt>
                <c:pt idx="61">
                  <c:v>6100</c:v>
                </c:pt>
                <c:pt idx="62">
                  <c:v>6200</c:v>
                </c:pt>
                <c:pt idx="63">
                  <c:v>6300</c:v>
                </c:pt>
                <c:pt idx="64">
                  <c:v>6400</c:v>
                </c:pt>
                <c:pt idx="65">
                  <c:v>6500</c:v>
                </c:pt>
                <c:pt idx="66">
                  <c:v>6600</c:v>
                </c:pt>
                <c:pt idx="67">
                  <c:v>6700</c:v>
                </c:pt>
                <c:pt idx="68">
                  <c:v>6800</c:v>
                </c:pt>
                <c:pt idx="69">
                  <c:v>6900</c:v>
                </c:pt>
                <c:pt idx="70">
                  <c:v>7000</c:v>
                </c:pt>
                <c:pt idx="71">
                  <c:v>7100</c:v>
                </c:pt>
                <c:pt idx="72">
                  <c:v>7200</c:v>
                </c:pt>
                <c:pt idx="73">
                  <c:v>7300</c:v>
                </c:pt>
                <c:pt idx="74">
                  <c:v>7400</c:v>
                </c:pt>
                <c:pt idx="75">
                  <c:v>7500</c:v>
                </c:pt>
                <c:pt idx="76">
                  <c:v>7600</c:v>
                </c:pt>
                <c:pt idx="77">
                  <c:v>7700</c:v>
                </c:pt>
                <c:pt idx="78">
                  <c:v>7800</c:v>
                </c:pt>
                <c:pt idx="79">
                  <c:v>7900</c:v>
                </c:pt>
                <c:pt idx="80">
                  <c:v>8000</c:v>
                </c:pt>
                <c:pt idx="81">
                  <c:v>8100</c:v>
                </c:pt>
                <c:pt idx="82">
                  <c:v>8200</c:v>
                </c:pt>
                <c:pt idx="83">
                  <c:v>8300</c:v>
                </c:pt>
                <c:pt idx="84">
                  <c:v>8400</c:v>
                </c:pt>
                <c:pt idx="85">
                  <c:v>8500</c:v>
                </c:pt>
                <c:pt idx="86">
                  <c:v>8600</c:v>
                </c:pt>
                <c:pt idx="87">
                  <c:v>8700</c:v>
                </c:pt>
                <c:pt idx="88">
                  <c:v>8800</c:v>
                </c:pt>
                <c:pt idx="89">
                  <c:v>8900</c:v>
                </c:pt>
                <c:pt idx="90">
                  <c:v>9000</c:v>
                </c:pt>
                <c:pt idx="91">
                  <c:v>9100</c:v>
                </c:pt>
                <c:pt idx="92">
                  <c:v>9200</c:v>
                </c:pt>
                <c:pt idx="93">
                  <c:v>9300</c:v>
                </c:pt>
                <c:pt idx="94">
                  <c:v>9400</c:v>
                </c:pt>
                <c:pt idx="95">
                  <c:v>9500</c:v>
                </c:pt>
                <c:pt idx="96">
                  <c:v>9600</c:v>
                </c:pt>
                <c:pt idx="97">
                  <c:v>9700</c:v>
                </c:pt>
                <c:pt idx="98">
                  <c:v>9800</c:v>
                </c:pt>
                <c:pt idx="99">
                  <c:v>9900</c:v>
                </c:pt>
                <c:pt idx="100">
                  <c:v>10000</c:v>
                </c:pt>
                <c:pt idx="101">
                  <c:v>10100</c:v>
                </c:pt>
                <c:pt idx="102">
                  <c:v>10200</c:v>
                </c:pt>
                <c:pt idx="103">
                  <c:v>10300</c:v>
                </c:pt>
                <c:pt idx="104">
                  <c:v>10400</c:v>
                </c:pt>
                <c:pt idx="105">
                  <c:v>10500</c:v>
                </c:pt>
                <c:pt idx="106">
                  <c:v>10600</c:v>
                </c:pt>
                <c:pt idx="107">
                  <c:v>10700</c:v>
                </c:pt>
                <c:pt idx="108">
                  <c:v>10800</c:v>
                </c:pt>
                <c:pt idx="109">
                  <c:v>10900</c:v>
                </c:pt>
                <c:pt idx="110">
                  <c:v>11000</c:v>
                </c:pt>
                <c:pt idx="111">
                  <c:v>11100</c:v>
                </c:pt>
                <c:pt idx="112">
                  <c:v>11200</c:v>
                </c:pt>
                <c:pt idx="113">
                  <c:v>11300</c:v>
                </c:pt>
                <c:pt idx="114">
                  <c:v>11400</c:v>
                </c:pt>
                <c:pt idx="115">
                  <c:v>11500</c:v>
                </c:pt>
                <c:pt idx="116">
                  <c:v>11600</c:v>
                </c:pt>
                <c:pt idx="117">
                  <c:v>11700</c:v>
                </c:pt>
                <c:pt idx="118">
                  <c:v>11800</c:v>
                </c:pt>
                <c:pt idx="119">
                  <c:v>11900</c:v>
                </c:pt>
                <c:pt idx="120">
                  <c:v>12000</c:v>
                </c:pt>
              </c:numCache>
            </c:numRef>
          </c:cat>
          <c:val>
            <c:numRef>
              <c:f>'Chart Data'!$B$2:$B$122</c:f>
              <c:numCache>
                <c:formatCode>0.0</c:formatCode>
                <c:ptCount val="121"/>
                <c:pt idx="0">
                  <c:v>0.3686880992</c:v>
                </c:pt>
                <c:pt idx="1">
                  <c:v>-0.01719865478</c:v>
                </c:pt>
                <c:pt idx="2">
                  <c:v>-0.06295495374</c:v>
                </c:pt>
                <c:pt idx="3">
                  <c:v>-0.06234356879</c:v>
                </c:pt>
                <c:pt idx="4">
                  <c:v>-0.0786458712</c:v>
                </c:pt>
                <c:pt idx="5">
                  <c:v>-0.07580863997</c:v>
                </c:pt>
                <c:pt idx="6">
                  <c:v>-0.08585868715</c:v>
                </c:pt>
                <c:pt idx="7">
                  <c:v>-0.6615856892</c:v>
                </c:pt>
                <c:pt idx="8">
                  <c:v>-0.7428693641</c:v>
                </c:pt>
                <c:pt idx="9">
                  <c:v>-0.8688324336</c:v>
                </c:pt>
                <c:pt idx="10">
                  <c:v>-0.9005086079</c:v>
                </c:pt>
                <c:pt idx="11">
                  <c:v>-0.9151323821</c:v>
                </c:pt>
                <c:pt idx="12">
                  <c:v>-0.9419765996</c:v>
                </c:pt>
                <c:pt idx="13">
                  <c:v>-0.9825743454</c:v>
                </c:pt>
                <c:pt idx="14">
                  <c:v>-1.005418692</c:v>
                </c:pt>
                <c:pt idx="15">
                  <c:v>-1.024789108</c:v>
                </c:pt>
                <c:pt idx="16">
                  <c:v>-1.015775257</c:v>
                </c:pt>
                <c:pt idx="17">
                  <c:v>-1.039724219</c:v>
                </c:pt>
                <c:pt idx="18">
                  <c:v>-1.052174839</c:v>
                </c:pt>
                <c:pt idx="19">
                  <c:v>-1.060255046</c:v>
                </c:pt>
                <c:pt idx="20">
                  <c:v>-1.06373576</c:v>
                </c:pt>
                <c:pt idx="21">
                  <c:v>-1.051356784</c:v>
                </c:pt>
                <c:pt idx="22">
                  <c:v>-1.123070938</c:v>
                </c:pt>
                <c:pt idx="23">
                  <c:v>-1.126256604</c:v>
                </c:pt>
                <c:pt idx="24">
                  <c:v>-1.128380182</c:v>
                </c:pt>
                <c:pt idx="25">
                  <c:v>-1.140921683</c:v>
                </c:pt>
                <c:pt idx="26">
                  <c:v>-1.144569276</c:v>
                </c:pt>
                <c:pt idx="27">
                  <c:v>-1.162371703</c:v>
                </c:pt>
                <c:pt idx="28">
                  <c:v>-1.168687971</c:v>
                </c:pt>
                <c:pt idx="29">
                  <c:v>-1.160280132</c:v>
                </c:pt>
                <c:pt idx="30">
                  <c:v>-1.155018353</c:v>
                </c:pt>
                <c:pt idx="31">
                  <c:v>-1.141296701</c:v>
                </c:pt>
                <c:pt idx="32">
                  <c:v>-1.084931825</c:v>
                </c:pt>
                <c:pt idx="33">
                  <c:v>-1.171420332</c:v>
                </c:pt>
                <c:pt idx="34">
                  <c:v>-1.20076152</c:v>
                </c:pt>
                <c:pt idx="35">
                  <c:v>-1.151702085</c:v>
                </c:pt>
                <c:pt idx="36">
                  <c:v>-1.203238063</c:v>
                </c:pt>
                <c:pt idx="37">
                  <c:v>-1.238153175</c:v>
                </c:pt>
                <c:pt idx="38">
                  <c:v>-1.197510835</c:v>
                </c:pt>
                <c:pt idx="39">
                  <c:v>-1.226796531</c:v>
                </c:pt>
                <c:pt idx="40">
                  <c:v>-1.209599906</c:v>
                </c:pt>
                <c:pt idx="41">
                  <c:v>-1.227207901</c:v>
                </c:pt>
                <c:pt idx="42">
                  <c:v>-1.204443225</c:v>
                </c:pt>
                <c:pt idx="43">
                  <c:v>-1.229524824</c:v>
                </c:pt>
                <c:pt idx="44">
                  <c:v>-1.18208408</c:v>
                </c:pt>
                <c:pt idx="45">
                  <c:v>-1.216316426</c:v>
                </c:pt>
                <c:pt idx="46">
                  <c:v>-1.214677169</c:v>
                </c:pt>
                <c:pt idx="47">
                  <c:v>-1.218570745</c:v>
                </c:pt>
                <c:pt idx="48">
                  <c:v>-1.23541481</c:v>
                </c:pt>
                <c:pt idx="49">
                  <c:v>-1.23093108</c:v>
                </c:pt>
                <c:pt idx="50">
                  <c:v>-1.259539154</c:v>
                </c:pt>
                <c:pt idx="51">
                  <c:v>-1.228562419</c:v>
                </c:pt>
                <c:pt idx="52">
                  <c:v>-1.240660679</c:v>
                </c:pt>
                <c:pt idx="53">
                  <c:v>-1.261324176</c:v>
                </c:pt>
                <c:pt idx="54">
                  <c:v>-1.262568184</c:v>
                </c:pt>
                <c:pt idx="55">
                  <c:v>-1.264931233</c:v>
                </c:pt>
                <c:pt idx="56">
                  <c:v>-1.258899216</c:v>
                </c:pt>
                <c:pt idx="57">
                  <c:v>-1.26549557</c:v>
                </c:pt>
                <c:pt idx="58">
                  <c:v>-1.28111218</c:v>
                </c:pt>
                <c:pt idx="59">
                  <c:v>-1.258144343</c:v>
                </c:pt>
                <c:pt idx="60">
                  <c:v>-1.294805899</c:v>
                </c:pt>
                <c:pt idx="61">
                  <c:v>-1.255284075</c:v>
                </c:pt>
                <c:pt idx="62">
                  <c:v>-1.213020949</c:v>
                </c:pt>
                <c:pt idx="63">
                  <c:v>-1.297319599</c:v>
                </c:pt>
                <c:pt idx="64">
                  <c:v>-1.300038111</c:v>
                </c:pt>
                <c:pt idx="65">
                  <c:v>-1.320048416</c:v>
                </c:pt>
                <c:pt idx="66">
                  <c:v>-1.277945911</c:v>
                </c:pt>
                <c:pt idx="67">
                  <c:v>-1.253784482</c:v>
                </c:pt>
                <c:pt idx="68">
                  <c:v>-1.319950048</c:v>
                </c:pt>
                <c:pt idx="69">
                  <c:v>-1.336891608</c:v>
                </c:pt>
                <c:pt idx="70">
                  <c:v>-1.308023607</c:v>
                </c:pt>
                <c:pt idx="71">
                  <c:v>-1.325622508</c:v>
                </c:pt>
                <c:pt idx="72">
                  <c:v>-1.308000207</c:v>
                </c:pt>
                <c:pt idx="73">
                  <c:v>-1.313180521</c:v>
                </c:pt>
                <c:pt idx="74">
                  <c:v>-1.298387658</c:v>
                </c:pt>
                <c:pt idx="75">
                  <c:v>-1.34295249</c:v>
                </c:pt>
                <c:pt idx="76">
                  <c:v>-1.295752369</c:v>
                </c:pt>
                <c:pt idx="77">
                  <c:v>-1.316824941</c:v>
                </c:pt>
                <c:pt idx="78">
                  <c:v>-1.34674219</c:v>
                </c:pt>
                <c:pt idx="79">
                  <c:v>-1.347024438</c:v>
                </c:pt>
                <c:pt idx="80">
                  <c:v>-1.34254318</c:v>
                </c:pt>
                <c:pt idx="81">
                  <c:v>-1.341440634</c:v>
                </c:pt>
                <c:pt idx="82">
                  <c:v>-1.348688047</c:v>
                </c:pt>
                <c:pt idx="83">
                  <c:v>-1.35522078</c:v>
                </c:pt>
                <c:pt idx="84">
                  <c:v>-1.340991852</c:v>
                </c:pt>
                <c:pt idx="85">
                  <c:v>-1.344565391</c:v>
                </c:pt>
                <c:pt idx="86">
                  <c:v>-1.300736408</c:v>
                </c:pt>
                <c:pt idx="87">
                  <c:v>-1.342274307</c:v>
                </c:pt>
                <c:pt idx="88">
                  <c:v>-1.306659878</c:v>
                </c:pt>
                <c:pt idx="89">
                  <c:v>-1.343194826</c:v>
                </c:pt>
                <c:pt idx="90">
                  <c:v>-1.343254724</c:v>
                </c:pt>
                <c:pt idx="91">
                  <c:v>-1.341459843</c:v>
                </c:pt>
                <c:pt idx="92">
                  <c:v>-1.341745714</c:v>
                </c:pt>
                <c:pt idx="93">
                  <c:v>-1.331047843</c:v>
                </c:pt>
                <c:pt idx="94">
                  <c:v>-1.289870333</c:v>
                </c:pt>
                <c:pt idx="95">
                  <c:v>-1.320410521</c:v>
                </c:pt>
                <c:pt idx="96">
                  <c:v>-1.330207319</c:v>
                </c:pt>
                <c:pt idx="97">
                  <c:v>-1.34895099</c:v>
                </c:pt>
                <c:pt idx="98">
                  <c:v>-1.354102963</c:v>
                </c:pt>
                <c:pt idx="99">
                  <c:v>-1.359461563</c:v>
                </c:pt>
                <c:pt idx="100">
                  <c:v>-1.339991107</c:v>
                </c:pt>
                <c:pt idx="101">
                  <c:v>-1.365134559</c:v>
                </c:pt>
                <c:pt idx="102">
                  <c:v>-1.350499717</c:v>
                </c:pt>
                <c:pt idx="103">
                  <c:v>-1.346771597</c:v>
                </c:pt>
                <c:pt idx="104">
                  <c:v>-1.330102923</c:v>
                </c:pt>
                <c:pt idx="105">
                  <c:v>-1.351875296</c:v>
                </c:pt>
                <c:pt idx="106">
                  <c:v>-1.27983878</c:v>
                </c:pt>
                <c:pt idx="107">
                  <c:v>-1.319521691</c:v>
                </c:pt>
                <c:pt idx="108">
                  <c:v>-1.341086922</c:v>
                </c:pt>
                <c:pt idx="109">
                  <c:v>-1.34180404</c:v>
                </c:pt>
                <c:pt idx="110">
                  <c:v>-1.367302209</c:v>
                </c:pt>
                <c:pt idx="111">
                  <c:v>-1.321541975</c:v>
                </c:pt>
                <c:pt idx="112">
                  <c:v>-1.360247093</c:v>
                </c:pt>
                <c:pt idx="113">
                  <c:v>-1.3258251</c:v>
                </c:pt>
                <c:pt idx="114">
                  <c:v>-1.359950247</c:v>
                </c:pt>
                <c:pt idx="115">
                  <c:v>-1.362844207</c:v>
                </c:pt>
                <c:pt idx="116">
                  <c:v>-1.360301271</c:v>
                </c:pt>
                <c:pt idx="117">
                  <c:v>-1.348217772</c:v>
                </c:pt>
                <c:pt idx="118">
                  <c:v>-1.349041167</c:v>
                </c:pt>
                <c:pt idx="119">
                  <c:v>-1.370585132</c:v>
                </c:pt>
                <c:pt idx="120">
                  <c:v>-1.358828177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optimizer update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0.5"/>
          <c:min val="-2"/>
        </c:scaling>
        <c:delete val="0"/>
        <c:axPos val="l"/>
        <c:majorGridlines>
          <c:spPr>
            <a:ln xmlns:a="http://schemas.openxmlformats.org/drawingml/2006/main" w="4763">
              <a:solidFill>
                <a:srgbClr val="E7EA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log10(loss)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mplate_accent">
            <a:extLst xmlns:a="http://schemas.openxmlformats.org/drawingml/2006/main">
              <a:ext uri="{FF2B5EF4-FFF2-40B4-BE49-F238E27FC236}">
                <a16:creationId xmlns:a16="http://schemas.microsoft.com/office/drawing/2014/main" id="{0C6C235A-EA2A-45DD-BA1C-8C49C690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95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mplate_kicker">
            <a:extLst xmlns:a="http://schemas.openxmlformats.org/drawingml/2006/main">
              <a:ext uri="{FF2B5EF4-FFF2-40B4-BE49-F238E27FC236}">
                <a16:creationId xmlns:a16="http://schemas.microsoft.com/office/drawing/2014/main" id="{93330596-FD6D-4E8A-875C-33D633B6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2026-09-08  冻结结果更新</a:t>
            </a:r>
          </a:p>
        </p:txBody>
      </p:sp>
      <p:sp>
        <p:nvSpPr>
          <p:cNvPr id="3" name="template_title">
            <a:extLst xmlns:a="http://schemas.openxmlformats.org/drawingml/2006/main">
              <a:ext uri="{FF2B5EF4-FFF2-40B4-BE49-F238E27FC236}">
                <a16:creationId xmlns:a16="http://schemas.microsoft.com/office/drawing/2014/main" id="{6A719BD3-B642-4046-99D3-733D5D62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5–20 GHz 单频模型研究进展</a:t>
            </a:r>
          </a:p>
        </p:txBody>
      </p:sp>
      <p:sp>
        <p:nvSpPr>
          <p:cNvPr id="4" name="template_divider">
            <a:extLst xmlns:a="http://schemas.openxmlformats.org/drawingml/2006/main">
              <a:ext uri="{FF2B5EF4-FFF2-40B4-BE49-F238E27FC236}">
                <a16:creationId xmlns:a16="http://schemas.microsoft.com/office/drawing/2014/main" id="{A05394E4-5EAF-4C1C-ABD4-0B150A92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mplate_footer">
            <a:extLst xmlns:a="http://schemas.openxmlformats.org/drawingml/2006/main">
              <a:ext uri="{FF2B5EF4-FFF2-40B4-BE49-F238E27FC236}">
                <a16:creationId xmlns:a16="http://schemas.microsoft.com/office/drawing/2014/main" id="{C9CB8406-3AE5-4EB4-9003-15F42211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训练/代理保持原冻结结果；物理采用独立QA通过的snapshot_0031（14:10 UTC）。全部模型仍为有限预算PARTIAL。</a:t>
            </a:r>
          </a:p>
        </p:txBody>
      </p:sp>
      <p:sp>
        <p:nvSpPr>
          <p:cNvPr id="15" name="template_page">
            <a:extLst xmlns:a="http://schemas.openxmlformats.org/drawingml/2006/main">
              <a:ext uri="{FF2B5EF4-FFF2-40B4-BE49-F238E27FC236}">
                <a16:creationId xmlns:a16="http://schemas.microsoft.com/office/drawing/2014/main" id="{49819C64-244F-4F65-B312-9C56B040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7" name="summary_0">
            <a:extLst xmlns:a="http://schemas.openxmlformats.org/drawingml/2006/main">
              <a:ext uri="{FF2B5EF4-FFF2-40B4-BE49-F238E27FC236}">
                <a16:creationId xmlns:a16="http://schemas.microsoft.com/office/drawing/2014/main" id="{74928930-40C9-409A-A875-27783F63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2877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18" name="label_0">
            <a:extLst xmlns:a="http://schemas.openxmlformats.org/drawingml/2006/main">
              <a:ext uri="{FF2B5EF4-FFF2-40B4-BE49-F238E27FC236}">
                <a16:creationId xmlns:a16="http://schemas.microsoft.com/office/drawing/2014/main" id="{668AB645-6E3C-4F8C-918E-21DDEAAF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逐频率正向/反向模型对</a:t>
            </a:r>
          </a:p>
        </p:txBody>
      </p:sp>
      <p:sp>
        <p:nvSpPr>
          <p:cNvPr id="19" name="summary_1">
            <a:extLst xmlns:a="http://schemas.openxmlformats.org/drawingml/2006/main">
              <a:ext uri="{FF2B5EF4-FFF2-40B4-BE49-F238E27FC236}">
                <a16:creationId xmlns:a16="http://schemas.microsoft.com/office/drawing/2014/main" id="{624EC106-6F54-4CCB-BC50-2D6D9FF8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2877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059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059D80"/>
                </a:solidFill>
                <a:latin typeface="Helvetica Neue"/>
                <a:ea typeface="Helvetica Neue"/>
                <a:cs typeface="Helvetica Neue"/>
              </a:rPr>
              <a:t>10,000</a:t>
            </a:r>
          </a:p>
        </p:txBody>
      </p:sp>
      <p:sp>
        <p:nvSpPr>
          <p:cNvPr id="20" name="label_1">
            <a:extLst xmlns:a="http://schemas.openxmlformats.org/drawingml/2006/main">
              <a:ext uri="{FF2B5EF4-FFF2-40B4-BE49-F238E27FC236}">
                <a16:creationId xmlns:a16="http://schemas.microsoft.com/office/drawing/2014/main" id="{83E0F89D-DA67-458D-AD1D-6C80E032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669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固定 accepted 几何快照</a:t>
            </a:r>
          </a:p>
        </p:txBody>
      </p:sp>
      <p:sp>
        <p:nvSpPr>
          <p:cNvPr id="21" name="summary_2">
            <a:extLst xmlns:a="http://schemas.openxmlformats.org/drawingml/2006/main">
              <a:ext uri="{FF2B5EF4-FFF2-40B4-BE49-F238E27FC236}">
                <a16:creationId xmlns:a16="http://schemas.microsoft.com/office/drawing/2014/main" id="{5DC501E4-760E-4FC4-97C4-71514C94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2877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EE70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EE7015"/>
                </a:solidFill>
                <a:latin typeface="Helvetica Neue"/>
                <a:ea typeface="Helvetica Neue"/>
                <a:cs typeface="Helvetica Neue"/>
              </a:rPr>
              <a:t>353</a:t>
            </a:r>
          </a:p>
        </p:txBody>
      </p:sp>
      <p:sp>
        <p:nvSpPr>
          <p:cNvPr id="22" name="label_2">
            <a:extLst xmlns:a="http://schemas.openxmlformats.org/drawingml/2006/main">
              <a:ext uri="{FF2B5EF4-FFF2-40B4-BE49-F238E27FC236}">
                <a16:creationId xmlns:a16="http://schemas.microsoft.com/office/drawing/2014/main" id="{BECEE802-B5DB-4248-9E4A-51E9918B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40请求独立真实EMX求解</a:t>
            </a:r>
          </a:p>
        </p:txBody>
      </p:sp>
      <p:graphicFrame>
        <p:nvGraphicFramePr>
          <p:cNvPr id="38" name="delivery_status"/>
          <p:cNvGraphicFramePr/>
          <p:nvPr/>
        </p:nvGraphicFramePr>
        <p:xfrm>
          <a:off xmlns:a="http://schemas.openxmlformats.org/drawingml/2006/main" x="666750" y="3028950"/>
          <a:ext xmlns:a="http://schemas.openxmlformats.org/drawingml/2006/main" cx="10763250" cy="2590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000500"/>
                <a:gridCol w="4381500"/>
              </a:tblGrid>
              <a:tr h="51816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77D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交付内容</a:t>
                      </a:r>
                    </a:p>
                  </a:txBody>
                  <a:tcPr marL="76200" marR="76200" marT="47625" marB="47625" anchor="ctr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77D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实际状态</a:t>
                      </a:r>
                    </a:p>
                  </a:txBody>
                  <a:tcPr marL="76200" marR="76200" marT="47625" marB="47625" anchor="ctr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77D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证据边界</a:t>
                      </a:r>
                    </a:p>
                  </a:txBody>
                  <a:tcPr marL="76200" marR="76200" marT="47625" marB="47625" anchor="ctr">
                    <a:solidFill>
                      <a:srgbClr val="EFF5FC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5–20 GHz 共16对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保存、加载、诊断续训、test完成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PAIR_READY，权重仍标 PARTIAL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随机 Q 扫描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每频率10,000请求，每请求11候选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SELF_PROXY，不能替代EMX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累计真实物理核验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40请求，440原槽，339严格有效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353求解含14无效；15 GHz为开发5K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正式10K的15 GHz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训练/holdout/代理结果已完成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新几何 fresh EMX = NOT_RUN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24" name="main_result">
            <a:extLst xmlns:a="http://schemas.openxmlformats.org/drawingml/2006/main">
              <a:ext uri="{FF2B5EF4-FFF2-40B4-BE49-F238E27FC236}">
                <a16:creationId xmlns:a16="http://schemas.microsoft.com/office/drawing/2014/main" id="{43D5D220-FE38-4686-8E02-1A914BEB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当前可展示可调用模型、真实留出误差与物理失败证据。</a:t>
            </a:r>
          </a:p>
        </p:txBody>
      </p:sp>
    </p:spTree>
    <p:extLst>
      <p:ext uri="{BB962C8B-B14F-4D97-AF65-F5344CB8AC3E}">
        <p14:creationId xmlns:p14="http://schemas.microsoft.com/office/powerpoint/2010/main" val="11942895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mplate_accent">
            <a:extLst xmlns:a="http://schemas.openxmlformats.org/drawingml/2006/main">
              <a:ext uri="{FF2B5EF4-FFF2-40B4-BE49-F238E27FC236}">
                <a16:creationId xmlns:a16="http://schemas.microsoft.com/office/drawing/2014/main" id="{0C6C235A-EA2A-45DD-BA1C-8C49C690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95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mplate_kicker">
            <a:extLst xmlns:a="http://schemas.openxmlformats.org/drawingml/2006/main">
              <a:ext uri="{FF2B5EF4-FFF2-40B4-BE49-F238E27FC236}">
                <a16:creationId xmlns:a16="http://schemas.microsoft.com/office/drawing/2014/main" id="{93330596-FD6D-4E8A-875C-33D633B6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网络结构与调用</a:t>
            </a:r>
          </a:p>
        </p:txBody>
      </p:sp>
      <p:sp>
        <p:nvSpPr>
          <p:cNvPr id="3" name="template_title">
            <a:extLst xmlns:a="http://schemas.openxmlformats.org/drawingml/2006/main">
              <a:ext uri="{FF2B5EF4-FFF2-40B4-BE49-F238E27FC236}">
                <a16:creationId xmlns:a16="http://schemas.microsoft.com/office/drawing/2014/main" id="{6A719BD3-B642-4046-99D3-733D5D62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按频率调用一对 256×3 MLP</a:t>
            </a:r>
          </a:p>
        </p:txBody>
      </p:sp>
      <p:sp>
        <p:nvSpPr>
          <p:cNvPr id="4" name="template_divider">
            <a:extLst xmlns:a="http://schemas.openxmlformats.org/drawingml/2006/main">
              <a:ext uri="{FF2B5EF4-FFF2-40B4-BE49-F238E27FC236}">
                <a16:creationId xmlns:a16="http://schemas.microsoft.com/office/drawing/2014/main" id="{A05394E4-5EAF-4C1C-ABD4-0B150A92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mplate_footer">
            <a:extLst xmlns:a="http://schemas.openxmlformats.org/drawingml/2006/main">
              <a:ext uri="{FF2B5EF4-FFF2-40B4-BE49-F238E27FC236}">
                <a16:creationId xmlns:a16="http://schemas.microsoft.com/office/drawing/2014/main" id="{C9CB8406-3AE5-4EB4-9003-15F42211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频率只选路由，不加入MLP输入。Qmin=min(Qp,Qs)，四物理指标对称匹配。</a:t>
            </a:r>
          </a:p>
        </p:txBody>
      </p:sp>
      <p:sp>
        <p:nvSpPr>
          <p:cNvPr id="15" name="template_page">
            <a:extLst xmlns:a="http://schemas.openxmlformats.org/drawingml/2006/main">
              <a:ext uri="{FF2B5EF4-FFF2-40B4-BE49-F238E27FC236}">
                <a16:creationId xmlns:a16="http://schemas.microsoft.com/office/drawing/2014/main" id="{49819C64-244F-4F65-B312-9C56B040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7" name="input">
            <a:extLst xmlns:a="http://schemas.openxmlformats.org/drawingml/2006/main">
              <a:ext uri="{FF2B5EF4-FFF2-40B4-BE49-F238E27FC236}">
                <a16:creationId xmlns:a16="http://schemas.microsoft.com/office/drawing/2014/main" id="{B1B8310C-835C-4EDC-AFB9-4CD1061C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478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输入四目标：[Lp, Ls, Qmin, |k|]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5B83A1-D748-4C24-8D31-B076B5F6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77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整数频率 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7A18B9-AFF5-454C-9140-D5ED8D1C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24125"/>
            <a:ext cx="4286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DD2DF3-2214-40D8-8D50-20517E7F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305050"/>
            <a:ext cx="2047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77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加载 F_f / I_f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5FE26D-9A85-427B-B24D-A45CA15D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24125"/>
            <a:ext cx="4286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7C102E-340C-458D-BAB6-C06CF9B1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30505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77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10维几何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CDEE36-07E7-49E2-8C3F-0BA779C9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24125"/>
            <a:ext cx="4286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E0EA90-1484-4604-929F-E7FC883D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05050"/>
            <a:ext cx="272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77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同频 F_f 诊断</a:t>
            </a:r>
          </a:p>
        </p:txBody>
      </p:sp>
      <p:sp>
        <p:nvSpPr>
          <p:cNvPr id="25" name="F">
            <a:extLst xmlns:a="http://schemas.openxmlformats.org/drawingml/2006/main">
              <a:ext uri="{FF2B5EF4-FFF2-40B4-BE49-F238E27FC236}">
                <a16:creationId xmlns:a16="http://schemas.microsoft.com/office/drawing/2014/main" id="{6749931D-617B-4777-A84E-074BCECB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Forward_f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C6DE15-A76B-418F-B1CB-B5CC913B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7185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77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几何 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91D5F4-7A49-4C3A-8476-43CA1991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524250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B5AC02-E62C-40EA-B546-16482E9DB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7185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77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256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65311D-4D71-41AB-BC70-10332290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524250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31758F-3FB9-49E4-8233-097B00C2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7185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77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256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64783D-2A96-468C-BACB-8B881C57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24250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0C9E5F-2528-4F06-83BF-8D5B6290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7185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77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256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42C13B-E9F8-41C3-9983-F37500CA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24250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7D9BCA-0842-424F-B5AD-59A6131A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7185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77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四物理目标 4</a:t>
            </a:r>
          </a:p>
        </p:txBody>
      </p:sp>
      <p:sp>
        <p:nvSpPr>
          <p:cNvPr id="35" name="I">
            <a:extLst xmlns:a="http://schemas.openxmlformats.org/drawingml/2006/main">
              <a:ext uri="{FF2B5EF4-FFF2-40B4-BE49-F238E27FC236}">
                <a16:creationId xmlns:a16="http://schemas.microsoft.com/office/drawing/2014/main" id="{685BA11D-C3D3-4500-AE0F-86F37E98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59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59D80"/>
                </a:solidFill>
                <a:latin typeface="Helvetica Neue"/>
                <a:ea typeface="Helvetica Neue"/>
                <a:cs typeface="Helvetica Neue"/>
              </a:rPr>
              <a:t>Inverse_f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03DB9F-203F-49E1-906C-D4557AC9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4815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59D8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四目标 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E3994A-8730-4CE5-A697-226AB5E3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400550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744003-C545-4A29-A921-29191238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4815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59D8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256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8CC98E-A9DF-4AA4-9FBB-CED1E121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400550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FAB86F2-54E2-4745-9B3C-BBF430ED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4815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59D8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256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AF39C5-14D1-4428-BBCA-C3FA9B19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400550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E1D8B16-DF50-4879-9E19-D8280B34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4815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59D8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256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E6F4F5A-3ED4-4A2C-A178-60E9AE65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400550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FE05D1B-5DFC-4932-BD19-E0183D4E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4815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59D8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几何 10</a:t>
            </a:r>
          </a:p>
        </p:txBody>
      </p:sp>
      <p:sp>
        <p:nvSpPr>
          <p:cNvPr id="45" name="model_details">
            <a:extLst xmlns:a="http://schemas.openxmlformats.org/drawingml/2006/main">
              <a:ext uri="{FF2B5EF4-FFF2-40B4-BE49-F238E27FC236}">
                <a16:creationId xmlns:a16="http://schemas.microsoft.com/office/drawing/2014/main" id="{6CD61310-2EC0-412C-8888-CD4F424C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7207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隐藏层：tanh近似GELU。几何输出：sigmoid映射至有效train包络。</a:t>
            </a:r>
          </a:p>
        </p:txBody>
      </p:sp>
      <p:sp>
        <p:nvSpPr>
          <p:cNvPr id="46" name="gradient">
            <a:extLst xmlns:a="http://schemas.openxmlformats.org/drawingml/2006/main">
              <a:ext uri="{FF2B5EF4-FFF2-40B4-BE49-F238E27FC236}">
                <a16:creationId xmlns:a16="http://schemas.microsoft.com/office/drawing/2014/main" id="{914AE759-CF37-402E-912D-0CB02826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05475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反向训练冻结正向参数，同时保留几何输入梯度。独立维度包络仍需解析、GDS与DRC核验。</a:t>
            </a:r>
          </a:p>
        </p:txBody>
      </p:sp>
    </p:spTree>
    <p:extLst>
      <p:ext uri="{BB962C8B-B14F-4D97-AF65-F5344CB8AC3E}">
        <p14:creationId xmlns:p14="http://schemas.microsoft.com/office/powerpoint/2010/main" val="11942895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mplate_accent">
            <a:extLst xmlns:a="http://schemas.openxmlformats.org/drawingml/2006/main">
              <a:ext uri="{FF2B5EF4-FFF2-40B4-BE49-F238E27FC236}">
                <a16:creationId xmlns:a16="http://schemas.microsoft.com/office/drawing/2014/main" id="{0C6C235A-EA2A-45DD-BA1C-8C49C690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95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mplate_kicker">
            <a:extLst xmlns:a="http://schemas.openxmlformats.org/drawingml/2006/main">
              <a:ext uri="{FF2B5EF4-FFF2-40B4-BE49-F238E27FC236}">
                <a16:creationId xmlns:a16="http://schemas.microsoft.com/office/drawing/2014/main" id="{93330596-FD6D-4E8A-875C-33D633B6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数据与划分</a:t>
            </a:r>
          </a:p>
        </p:txBody>
      </p:sp>
      <p:sp>
        <p:nvSpPr>
          <p:cNvPr id="3" name="template_title">
            <a:extLst xmlns:a="http://schemas.openxmlformats.org/drawingml/2006/main">
              <a:ext uri="{FF2B5EF4-FFF2-40B4-BE49-F238E27FC236}">
                <a16:creationId xmlns:a16="http://schemas.microsoft.com/office/drawing/2014/main" id="{6A719BD3-B642-4046-99D3-733D5D62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共同10K快照与逐频率有效样本</a:t>
            </a:r>
          </a:p>
        </p:txBody>
      </p:sp>
      <p:sp>
        <p:nvSpPr>
          <p:cNvPr id="4" name="template_divider">
            <a:extLst xmlns:a="http://schemas.openxmlformats.org/drawingml/2006/main">
              <a:ext uri="{FF2B5EF4-FFF2-40B4-BE49-F238E27FC236}">
                <a16:creationId xmlns:a16="http://schemas.microsoft.com/office/drawing/2014/main" id="{A05394E4-5EAF-4C1C-ABD4-0B150A92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mplate_footer">
            <a:extLst xmlns:a="http://schemas.openxmlformats.org/drawingml/2006/main">
              <a:ext uri="{FF2B5EF4-FFF2-40B4-BE49-F238E27FC236}">
                <a16:creationId xmlns:a16="http://schemas.microsoft.com/office/drawing/2014/main" id="{C9CB8406-3AE5-4EB4-9003-15F42211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同一几何跨频率保持同一split。每频normalizer仅拟合该频率有效train，不裁剪原始物理标签。</a:t>
            </a:r>
          </a:p>
        </p:txBody>
      </p:sp>
      <p:sp>
        <p:nvSpPr>
          <p:cNvPr id="15" name="template_page">
            <a:extLst xmlns:a="http://schemas.openxmlformats.org/drawingml/2006/main">
              <a:ext uri="{FF2B5EF4-FFF2-40B4-BE49-F238E27FC236}">
                <a16:creationId xmlns:a16="http://schemas.microsoft.com/office/drawing/2014/main" id="{49819C64-244F-4F65-B312-9C56B040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split">
            <a:extLst xmlns:a="http://schemas.openxmlformats.org/drawingml/2006/main">
              <a:ext uri="{FF2B5EF4-FFF2-40B4-BE49-F238E27FC236}">
                <a16:creationId xmlns:a16="http://schemas.microsoft.com/office/drawing/2014/main" id="{76C1E9EC-4D85-4DA3-B83B-79A1692C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287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accepted_sequence=1..10000；共同几何hash划分：train 6015 / val 2002 / test 1983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666750" y="2238375"/>
          <a:ext xmlns:a="http://schemas.openxmlformats.org/drawingml/2006/main" cx="714375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ac18ad7f2204924"/>
          </a:graphicData>
        </a:graphic>
      </p:graphicFrame>
      <p:graphicFrame>
        <p:nvGraphicFramePr>
          <p:cNvPr id="31" name="strict_examples"/>
          <p:cNvGraphicFramePr/>
          <p:nvPr/>
        </p:nvGraphicFramePr>
        <p:xfrm>
          <a:off xmlns:a="http://schemas.openxmlformats.org/drawingml/2006/main" x="8086725" y="2457450"/>
          <a:ext xmlns:a="http://schemas.openxmlformats.org/drawingml/2006/main" cx="3419475" cy="2047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81025"/>
                <a:gridCol w="742950"/>
                <a:gridCol w="742950"/>
                <a:gridCol w="676275"/>
                <a:gridCol w="676275"/>
              </a:tblGrid>
              <a:tr h="511969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877D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GHz</a:t>
                      </a:r>
                    </a:p>
                  </a:txBody>
                  <a:tcPr marL="76200" marR="76200" marT="47625" marB="47625" anchor="ctr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877D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strict</a:t>
                      </a:r>
                    </a:p>
                  </a:txBody>
                  <a:tcPr marL="76200" marR="76200" marT="47625" marB="47625" anchor="ctr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877D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</a:t>
                      </a:r>
                    </a:p>
                  </a:txBody>
                  <a:tcPr marL="76200" marR="76200" marT="47625" marB="47625" anchor="ctr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877D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</a:t>
                      </a:r>
                    </a:p>
                  </a:txBody>
                  <a:tcPr marL="76200" marR="76200" marT="47625" marB="47625" anchor="ctr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877D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</a:t>
                      </a:r>
                    </a:p>
                  </a:txBody>
                  <a:tcPr marL="76200" marR="76200" marT="47625" marB="47625" anchor="ctr">
                    <a:solidFill>
                      <a:srgbClr val="EFF5FC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10000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6015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2002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1983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5227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3175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1006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1046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464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279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89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trict_caveat">
            <a:extLst xmlns:a="http://schemas.openxmlformats.org/drawingml/2006/main">
              <a:ext uri="{FF2B5EF4-FFF2-40B4-BE49-F238E27FC236}">
                <a16:creationId xmlns:a16="http://schemas.microsoft.com/office/drawing/2014/main" id="{6DE6796F-254C-4ABF-9374-953D96D1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762500"/>
            <a:ext cx="3429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高频严格标签减少。</a:t>
            </a:r>
          </a:p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20 GHz仅279个几何</a:t>
            </a:r>
          </a:p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参与梯度训练。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“10K”指源快照，</a:t>
            </a:r>
          </a:p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不代表每频训练10K行。</a:t>
            </a:r>
          </a:p>
        </p:txBody>
      </p:sp>
    </p:spTree>
    <p:extLst>
      <p:ext uri="{BB962C8B-B14F-4D97-AF65-F5344CB8AC3E}">
        <p14:creationId xmlns:p14="http://schemas.microsoft.com/office/powerpoint/2010/main" val="11942895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mplate_accent">
            <a:extLst xmlns:a="http://schemas.openxmlformats.org/drawingml/2006/main">
              <a:ext uri="{FF2B5EF4-FFF2-40B4-BE49-F238E27FC236}">
                <a16:creationId xmlns:a16="http://schemas.microsoft.com/office/drawing/2014/main" id="{0C6C235A-EA2A-45DD-BA1C-8C49C690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95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mplate_kicker">
            <a:extLst xmlns:a="http://schemas.openxmlformats.org/drawingml/2006/main">
              <a:ext uri="{FF2B5EF4-FFF2-40B4-BE49-F238E27FC236}">
                <a16:creationId xmlns:a16="http://schemas.microsoft.com/office/drawing/2014/main" id="{93330596-FD6D-4E8A-875C-33D633B6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HELDOUT_EM_LABELS</a:t>
            </a:r>
          </a:p>
        </p:txBody>
      </p:sp>
      <p:sp>
        <p:nvSpPr>
          <p:cNvPr id="3" name="template_title">
            <a:extLst xmlns:a="http://schemas.openxmlformats.org/drawingml/2006/main">
              <a:ext uri="{FF2B5EF4-FFF2-40B4-BE49-F238E27FC236}">
                <a16:creationId xmlns:a16="http://schemas.microsoft.com/office/drawing/2014/main" id="{6A719BD3-B642-4046-99D3-733D5D62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留出集正向误差：电感</a:t>
            </a:r>
          </a:p>
        </p:txBody>
      </p:sp>
      <p:sp>
        <p:nvSpPr>
          <p:cNvPr id="4" name="template_divider">
            <a:extLst xmlns:a="http://schemas.openxmlformats.org/drawingml/2006/main">
              <a:ext uri="{FF2B5EF4-FFF2-40B4-BE49-F238E27FC236}">
                <a16:creationId xmlns:a16="http://schemas.microsoft.com/office/drawing/2014/main" id="{A05394E4-5EAF-4C1C-ABD4-0B150A92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mplate_footer">
            <a:extLst xmlns:a="http://schemas.openxmlformats.org/drawingml/2006/main">
              <a:ext uri="{FF2B5EF4-FFF2-40B4-BE49-F238E27FC236}">
                <a16:creationId xmlns:a16="http://schemas.microsoft.com/office/drawing/2014/main" id="{C9CB8406-3AE5-4EB4-9003-15F42211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误差=正向预测−未参与梯度训练的参考EM标签。MAE/P95均为物理单位；跨频率仅作描述，不作因果排名。</a:t>
            </a:r>
          </a:p>
        </p:txBody>
      </p:sp>
      <p:sp>
        <p:nvSpPr>
          <p:cNvPr id="15" name="template_page">
            <a:extLst xmlns:a="http://schemas.openxmlformats.org/drawingml/2006/main">
              <a:ext uri="{FF2B5EF4-FFF2-40B4-BE49-F238E27FC236}">
                <a16:creationId xmlns:a16="http://schemas.microsoft.com/office/drawing/2014/main" id="{49819C64-244F-4F65-B312-9C56B040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7" name="panel_note">
            <a:extLst xmlns:a="http://schemas.openxmlformats.org/drawingml/2006/main">
              <a:ext uri="{FF2B5EF4-FFF2-40B4-BE49-F238E27FC236}">
                <a16:creationId xmlns:a16="http://schemas.microsoft.com/office/drawing/2014/main" id="{06E1786C-2E6F-4267-AA83-E7B481A1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同一几何hash test，逐频严格有效子集；实际分母见上一页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666750" y="2305050"/>
          <a:ext xmlns:a="http://schemas.openxmlformats.org/drawingml/2006/main" cx="5286375" cy="3505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20d5712cc35467b"/>
          </a:graphicData>
        </a:graphic>
      </p:graphicFrame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6143625" y="2305050"/>
          <a:ext xmlns:a="http://schemas.openxmlformats.org/drawingml/2006/main" cx="5286375" cy="3505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50945df26084c1f"/>
          </a:graphicData>
        </a:graphic>
      </p:graphicFrame>
      <p:sp>
        <p:nvSpPr>
          <p:cNvPr id="20" name="holdout_limit">
            <a:extLst xmlns:a="http://schemas.openxmlformats.org/drawingml/2006/main">
              <a:ext uri="{FF2B5EF4-FFF2-40B4-BE49-F238E27FC236}">
                <a16:creationId xmlns:a16="http://schemas.microsoft.com/office/drawing/2014/main" id="{291976D1-5F63-44E5-8C72-999B5CDE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参考几何已有真实EM标签；这些误差不能证明反向生成的新几何达到目标。</a:t>
            </a:r>
          </a:p>
        </p:txBody>
      </p:sp>
    </p:spTree>
    <p:extLst>
      <p:ext uri="{BB962C8B-B14F-4D97-AF65-F5344CB8AC3E}">
        <p14:creationId xmlns:p14="http://schemas.microsoft.com/office/powerpoint/2010/main" val="11942895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mplate_accent">
            <a:extLst xmlns:a="http://schemas.openxmlformats.org/drawingml/2006/main">
              <a:ext uri="{FF2B5EF4-FFF2-40B4-BE49-F238E27FC236}">
                <a16:creationId xmlns:a16="http://schemas.microsoft.com/office/drawing/2014/main" id="{0C6C235A-EA2A-45DD-BA1C-8C49C690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95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mplate_kicker">
            <a:extLst xmlns:a="http://schemas.openxmlformats.org/drawingml/2006/main">
              <a:ext uri="{FF2B5EF4-FFF2-40B4-BE49-F238E27FC236}">
                <a16:creationId xmlns:a16="http://schemas.microsoft.com/office/drawing/2014/main" id="{93330596-FD6D-4E8A-875C-33D633B6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HELDOUT_EM_LABELS</a:t>
            </a:r>
          </a:p>
        </p:txBody>
      </p:sp>
      <p:sp>
        <p:nvSpPr>
          <p:cNvPr id="3" name="template_title">
            <a:extLst xmlns:a="http://schemas.openxmlformats.org/drawingml/2006/main">
              <a:ext uri="{FF2B5EF4-FFF2-40B4-BE49-F238E27FC236}">
                <a16:creationId xmlns:a16="http://schemas.microsoft.com/office/drawing/2014/main" id="{6A719BD3-B642-4046-99D3-733D5D62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留出集正向误差：Q 与耦合</a:t>
            </a:r>
          </a:p>
        </p:txBody>
      </p:sp>
      <p:sp>
        <p:nvSpPr>
          <p:cNvPr id="4" name="template_divider">
            <a:extLst xmlns:a="http://schemas.openxmlformats.org/drawingml/2006/main">
              <a:ext uri="{FF2B5EF4-FFF2-40B4-BE49-F238E27FC236}">
                <a16:creationId xmlns:a16="http://schemas.microsoft.com/office/drawing/2014/main" id="{A05394E4-5EAF-4C1C-ABD4-0B150A92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mplate_footer">
            <a:extLst xmlns:a="http://schemas.openxmlformats.org/drawingml/2006/main">
              <a:ext uri="{FF2B5EF4-FFF2-40B4-BE49-F238E27FC236}">
                <a16:creationId xmlns:a16="http://schemas.microsoft.com/office/drawing/2014/main" id="{C9CB8406-3AE5-4EB4-9003-15F42211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误差=正向预测−未参与梯度训练的参考EM标签。MAE/P95均为物理单位；跨频率仅作描述，不作因果排名。</a:t>
            </a:r>
          </a:p>
        </p:txBody>
      </p:sp>
      <p:sp>
        <p:nvSpPr>
          <p:cNvPr id="15" name="template_page">
            <a:extLst xmlns:a="http://schemas.openxmlformats.org/drawingml/2006/main">
              <a:ext uri="{FF2B5EF4-FFF2-40B4-BE49-F238E27FC236}">
                <a16:creationId xmlns:a16="http://schemas.microsoft.com/office/drawing/2014/main" id="{49819C64-244F-4F65-B312-9C56B040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7" name="panel_note">
            <a:extLst xmlns:a="http://schemas.openxmlformats.org/drawingml/2006/main">
              <a:ext uri="{FF2B5EF4-FFF2-40B4-BE49-F238E27FC236}">
                <a16:creationId xmlns:a16="http://schemas.microsoft.com/office/drawing/2014/main" id="{97A2CA3C-1159-48CC-A8E4-7502FFFD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同一几何hash test，逐频严格有效子集；实际分母见上一页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666750" y="2305050"/>
          <a:ext xmlns:a="http://schemas.openxmlformats.org/drawingml/2006/main" cx="5286375" cy="3505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e1dace9392b4929"/>
          </a:graphicData>
        </a:graphic>
      </p:graphicFrame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6143625" y="2305050"/>
          <a:ext xmlns:a="http://schemas.openxmlformats.org/drawingml/2006/main" cx="5286375" cy="3505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53790cc470e4333"/>
          </a:graphicData>
        </a:graphic>
      </p:graphicFrame>
      <p:sp>
        <p:nvSpPr>
          <p:cNvPr id="20" name="holdout_limit">
            <a:extLst xmlns:a="http://schemas.openxmlformats.org/drawingml/2006/main">
              <a:ext uri="{FF2B5EF4-FFF2-40B4-BE49-F238E27FC236}">
                <a16:creationId xmlns:a16="http://schemas.microsoft.com/office/drawing/2014/main" id="{4F3C7EBA-30C8-4FB3-B05B-0A614523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参考几何已有真实EM标签；这些误差不能证明反向生成的新几何达到目标。</a:t>
            </a:r>
          </a:p>
        </p:txBody>
      </p:sp>
    </p:spTree>
    <p:extLst>
      <p:ext uri="{BB962C8B-B14F-4D97-AF65-F5344CB8AC3E}">
        <p14:creationId xmlns:p14="http://schemas.microsoft.com/office/powerpoint/2010/main" val="11942895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mplate_accent">
            <a:extLst xmlns:a="http://schemas.openxmlformats.org/drawingml/2006/main">
              <a:ext uri="{FF2B5EF4-FFF2-40B4-BE49-F238E27FC236}">
                <a16:creationId xmlns:a16="http://schemas.microsoft.com/office/drawing/2014/main" id="{0C6C235A-EA2A-45DD-BA1C-8C49C690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95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mplate_kicker">
            <a:extLst xmlns:a="http://schemas.openxmlformats.org/drawingml/2006/main">
              <a:ext uri="{FF2B5EF4-FFF2-40B4-BE49-F238E27FC236}">
                <a16:creationId xmlns:a16="http://schemas.microsoft.com/office/drawing/2014/main" id="{93330596-FD6D-4E8A-875C-33D633B6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SELF_PROXY</a:t>
            </a:r>
          </a:p>
        </p:txBody>
      </p:sp>
      <p:sp>
        <p:nvSpPr>
          <p:cNvPr id="3" name="template_title">
            <a:extLst xmlns:a="http://schemas.openxmlformats.org/drawingml/2006/main">
              <a:ext uri="{FF2B5EF4-FFF2-40B4-BE49-F238E27FC236}">
                <a16:creationId xmlns:a16="http://schemas.microsoft.com/office/drawing/2014/main" id="{6A719BD3-B642-4046-99D3-733D5D62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随机Q扫描：每频率10,000个请求</a:t>
            </a:r>
          </a:p>
        </p:txBody>
      </p:sp>
      <p:sp>
        <p:nvSpPr>
          <p:cNvPr id="4" name="template_divider">
            <a:extLst xmlns:a="http://schemas.openxmlformats.org/drawingml/2006/main">
              <a:ext uri="{FF2B5EF4-FFF2-40B4-BE49-F238E27FC236}">
                <a16:creationId xmlns:a16="http://schemas.microsoft.com/office/drawing/2014/main" id="{A05394E4-5EAF-4C1C-ABD4-0B150A92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mplate_footer">
            <a:extLst xmlns:a="http://schemas.openxmlformats.org/drawingml/2006/main">
              <a:ext uri="{FF2B5EF4-FFF2-40B4-BE49-F238E27FC236}">
                <a16:creationId xmlns:a16="http://schemas.microsoft.com/office/drawing/2014/main" id="{C9CB8406-3AE5-4EB4-9003-15F42211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百分比以每频率原10,000请求为分母。响应命中采用固定绝对容差，解析通过不等于DRC通过。</a:t>
            </a:r>
          </a:p>
        </p:txBody>
      </p:sp>
      <p:sp>
        <p:nvSpPr>
          <p:cNvPr id="15" name="template_page">
            <a:extLst xmlns:a="http://schemas.openxmlformats.org/drawingml/2006/main">
              <a:ext uri="{FF2B5EF4-FFF2-40B4-BE49-F238E27FC236}">
                <a16:creationId xmlns:a16="http://schemas.microsoft.com/office/drawing/2014/main" id="{49819C64-244F-4F65-B312-9C56B040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17" name="q_definition">
            <a:extLst xmlns:a="http://schemas.openxmlformats.org/drawingml/2006/main">
              <a:ext uri="{FF2B5EF4-FFF2-40B4-BE49-F238E27FC236}">
                <a16:creationId xmlns:a16="http://schemas.microsoft.com/office/drawing/2014/main" id="{4F7FADF0-F844-4C8C-8955-EC072143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9725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固定 [Lp,Ls,|k|]，扫描整数 Q=10..20；每请求11组网格几何。预先选 q_proxy。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666750" y="2295525"/>
          <a:ext xmlns:a="http://schemas.openxmlformats.org/drawingml/2006/main" cx="8096250" cy="3600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915cf044de24be7"/>
          </a:graphicData>
        </a:graphic>
      </p:graphicFrame>
      <p:sp>
        <p:nvSpPr>
          <p:cNvPr id="19" name="score">
            <a:extLst xmlns:a="http://schemas.openxmlformats.org/drawingml/2006/main">
              <a:ext uri="{FF2B5EF4-FFF2-40B4-BE49-F238E27FC236}">
                <a16:creationId xmlns:a16="http://schemas.microsoft.com/office/drawing/2014/main" id="{0343626E-1E42-46E5-906A-229FC5F7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486025"/>
            <a:ext cx="2571750" cy="2867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预选评分</a:t>
            </a:r>
          </a:p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四残差按固定跨度归一化</a:t>
            </a:r>
          </a:p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跨度 [2.5,2.5,20,0.8]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对称绝对容差</a:t>
            </a:r>
          </a:p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Lp/Ls：0.125 nH</a:t>
            </a:r>
          </a:p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Qmin：1</a:t>
            </a:r>
          </a:p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|k|：0.04</a:t>
            </a:r>
          </a:p>
        </p:txBody>
      </p:sp>
      <p:sp>
        <p:nvSpPr>
          <p:cNvPr id="20" name="no_champion">
            <a:extLst xmlns:a="http://schemas.openxmlformats.org/drawingml/2006/main">
              <a:ext uri="{FF2B5EF4-FFF2-40B4-BE49-F238E27FC236}">
                <a16:creationId xmlns:a16="http://schemas.microsoft.com/office/drawing/2014/main" id="{1302FC3E-6312-4621-8DAA-E41F7064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912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本页仅为模型内部反馈。q_proxy的真实EMX表现需按原始请求继续核验。</a:t>
            </a:r>
          </a:p>
        </p:txBody>
      </p:sp>
    </p:spTree>
    <p:extLst>
      <p:ext uri="{BB962C8B-B14F-4D97-AF65-F5344CB8AC3E}">
        <p14:creationId xmlns:p14="http://schemas.microsoft.com/office/powerpoint/2010/main" val="11942895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mplate_accent">
            <a:extLst xmlns:a="http://schemas.openxmlformats.org/drawingml/2006/main">
              <a:ext uri="{FF2B5EF4-FFF2-40B4-BE49-F238E27FC236}">
                <a16:creationId xmlns:a16="http://schemas.microsoft.com/office/drawing/2014/main" id="{0C6C235A-EA2A-45DD-BA1C-8C49C690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95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mplate_kicker">
            <a:extLst xmlns:a="http://schemas.openxmlformats.org/drawingml/2006/main">
              <a:ext uri="{FF2B5EF4-FFF2-40B4-BE49-F238E27FC236}">
                <a16:creationId xmlns:a16="http://schemas.microsoft.com/office/drawing/2014/main" id="{93330596-FD6D-4E8A-875C-33D633B6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E70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E7015"/>
                </a:solidFill>
                <a:latin typeface="Helvetica Neue"/>
                <a:ea typeface="Helvetica Neue"/>
                <a:cs typeface="Helvetica Neue"/>
              </a:rPr>
              <a:t>GENERATED_FRESH_EMX</a:t>
            </a:r>
          </a:p>
        </p:txBody>
      </p:sp>
      <p:sp>
        <p:nvSpPr>
          <p:cNvPr id="3" name="template_title">
            <a:extLst xmlns:a="http://schemas.openxmlformats.org/drawingml/2006/main">
              <a:ext uri="{FF2B5EF4-FFF2-40B4-BE49-F238E27FC236}">
                <a16:creationId xmlns:a16="http://schemas.microsoft.com/office/drawing/2014/main" id="{6A719BD3-B642-4046-99D3-733D5D62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40个物理请求：339 / 440 槽严格有效</a:t>
            </a:r>
          </a:p>
        </p:txBody>
      </p:sp>
      <p:sp>
        <p:nvSpPr>
          <p:cNvPr id="4" name="template_divider">
            <a:extLst xmlns:a="http://schemas.openxmlformats.org/drawingml/2006/main">
              <a:ext uri="{FF2B5EF4-FFF2-40B4-BE49-F238E27FC236}">
                <a16:creationId xmlns:a16="http://schemas.microsoft.com/office/drawing/2014/main" id="{A05394E4-5EAF-4C1C-ABD4-0B150A92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mplate_footer">
            <a:extLst xmlns:a="http://schemas.openxmlformats.org/drawingml/2006/main">
              <a:ext uri="{FF2B5EF4-FFF2-40B4-BE49-F238E27FC236}">
                <a16:creationId xmlns:a16="http://schemas.microsoft.com/office/drawing/2014/main" id="{C9CB8406-3AE5-4EB4-9003-15F42211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40请求均保留原11槽；339有效+14无效+26解析拒绝+40 GDS失败+21 DRC失败=440。未完成请求不算失败。</a:t>
            </a:r>
          </a:p>
        </p:txBody>
      </p:sp>
      <p:sp>
        <p:nvSpPr>
          <p:cNvPr id="15" name="template_page">
            <a:extLst xmlns:a="http://schemas.openxmlformats.org/drawingml/2006/main">
              <a:ext uri="{FF2B5EF4-FFF2-40B4-BE49-F238E27FC236}">
                <a16:creationId xmlns:a16="http://schemas.microsoft.com/office/drawing/2014/main" id="{49819C64-244F-4F65-B312-9C56B040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9" name="scope_note">
            <a:extLst xmlns:a="http://schemas.openxmlformats.org/drawingml/2006/main">
              <a:ext uri="{FF2B5EF4-FFF2-40B4-BE49-F238E27FC236}">
                <a16:creationId xmlns:a16="http://schemas.microsoft.com/office/drawing/2014/main" id="{5CEA56B4-8FAD-4D8E-A157-6902AA49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05475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15*：开发5K，3请求；其他15频率：正式10K，37请求。</a:t>
            </a:r>
          </a:p>
        </p:txBody>
      </p:sp>
      <p:sp>
        <p:nvSpPr>
          <p:cNvPr id="20" name="qemx_gate">
            <a:extLst xmlns:a="http://schemas.openxmlformats.org/drawingml/2006/main">
              <a:ext uri="{FF2B5EF4-FFF2-40B4-BE49-F238E27FC236}">
                <a16:creationId xmlns:a16="http://schemas.microsoft.com/office/drawing/2014/main" id="{DC6B2A7B-824A-4A22-AD9E-37847B3C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仅5个请求满足完整strict 11；各频率只有2–3请求，区间标PROVISIONAL_SMALL_REQUEST_N。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666750" y="1752600"/>
          <a:ext xmlns:a="http://schemas.openxmlformats.org/drawingml/2006/main" cx="6143625" cy="38004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c51f8ecc5714b35"/>
          </a:graphicData>
        </a:graphic>
      </p:graphicFrame>
      <p:graphicFrame>
        <p:nvGraphicFramePr>
          <p:cNvPr id="32" name="physical_request_status"/>
          <p:cNvGraphicFramePr/>
          <p:nvPr/>
        </p:nvGraphicFramePr>
        <p:xfrm>
          <a:off xmlns:a="http://schemas.openxmlformats.org/drawingml/2006/main" x="7181850" y="2076450"/>
          <a:ext xmlns:a="http://schemas.openxmlformats.org/drawingml/2006/main" cx="432435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1704975"/>
              </a:tblGrid>
              <a:tr h="462643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877D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检查项</a:t>
                      </a:r>
                    </a:p>
                  </a:txBody>
                  <a:tcPr marL="76200" marR="76200" marT="47625" marB="47625" anchor="ctr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877D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冻结快照</a:t>
                      </a:r>
                    </a:p>
                  </a:txBody>
                  <a:tcPr marL="76200" marR="76200" marT="47625" marB="47625" anchor="ctr">
                    <a:solidFill>
                      <a:srgbClr val="EFF5FC"/>
                    </a:solidFill>
                  </a:tcPr>
                </a:tc>
              </a:tr>
              <a:tr h="462643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请求已关闭 / 全计划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40 / 320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62643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已关闭原槽 / 全计划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440 / 3520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</a:tr>
              <a:tr h="462643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独立求解：有效 / 无效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339 / 14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62643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未求解：解析 / GDS / DRC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26 / 40 / 21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</a:tr>
              <a:tr h="462643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完整strict 11请求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 / 40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62643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尚未关闭请求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280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42895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mplate_accent">
            <a:extLst xmlns:a="http://schemas.openxmlformats.org/drawingml/2006/main">
              <a:ext uri="{FF2B5EF4-FFF2-40B4-BE49-F238E27FC236}">
                <a16:creationId xmlns:a16="http://schemas.microsoft.com/office/drawing/2014/main" id="{0C6C235A-EA2A-45DD-BA1C-8C49C690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95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mplate_kicker">
            <a:extLst xmlns:a="http://schemas.openxmlformats.org/drawingml/2006/main">
              <a:ext uri="{FF2B5EF4-FFF2-40B4-BE49-F238E27FC236}">
                <a16:creationId xmlns:a16="http://schemas.microsoft.com/office/drawing/2014/main" id="{93330596-FD6D-4E8A-875C-33D633B6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E70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E7015"/>
                </a:solidFill>
                <a:latin typeface="Helvetica Neue"/>
                <a:ea typeface="Helvetica Neue"/>
                <a:cs typeface="Helvetica Neue"/>
              </a:rPr>
              <a:t>GENERATED_FRESH_EMX  固定请求负例</a:t>
            </a:r>
          </a:p>
        </p:txBody>
      </p:sp>
      <p:sp>
        <p:nvSpPr>
          <p:cNvPr id="3" name="template_title">
            <a:extLst xmlns:a="http://schemas.openxmlformats.org/drawingml/2006/main">
              <a:ext uri="{FF2B5EF4-FFF2-40B4-BE49-F238E27FC236}">
                <a16:creationId xmlns:a16="http://schemas.microsoft.com/office/drawing/2014/main" id="{6A719BD3-B642-4046-99D3-733D5D62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20 GHz预选 Q=13：耦合误差导致未命中</a:t>
            </a:r>
          </a:p>
        </p:txBody>
      </p:sp>
      <p:sp>
        <p:nvSpPr>
          <p:cNvPr id="4" name="template_divider">
            <a:extLst xmlns:a="http://schemas.openxmlformats.org/drawingml/2006/main">
              <a:ext uri="{FF2B5EF4-FFF2-40B4-BE49-F238E27FC236}">
                <a16:creationId xmlns:a16="http://schemas.microsoft.com/office/drawing/2014/main" id="{A05394E4-5EAF-4C1C-ABD4-0B150A92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mplate_footer">
            <a:extLst xmlns:a="http://schemas.openxmlformats.org/drawingml/2006/main">
              <a:ext uri="{FF2B5EF4-FFF2-40B4-BE49-F238E27FC236}">
                <a16:creationId xmlns:a16="http://schemas.microsoft.com/office/drawing/2014/main" id="{C9CB8406-3AE5-4EB4-9003-15F42211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固定第三个20 GHz请求，Q在EMX前预选。展示具体失败机制，不据单例估计整体准确率；命中采用绝对容差。</a:t>
            </a:r>
          </a:p>
        </p:txBody>
      </p:sp>
      <p:sp>
        <p:nvSpPr>
          <p:cNvPr id="15" name="template_page">
            <a:extLst xmlns:a="http://schemas.openxmlformats.org/drawingml/2006/main">
              <a:ext uri="{FF2B5EF4-FFF2-40B4-BE49-F238E27FC236}">
                <a16:creationId xmlns:a16="http://schemas.microsoft.com/office/drawing/2014/main" id="{49819C64-244F-4F65-B312-9C56B040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19" name="joint">
            <a:extLst xmlns:a="http://schemas.openxmlformats.org/drawingml/2006/main">
              <a:ext uri="{FF2B5EF4-FFF2-40B4-BE49-F238E27FC236}">
                <a16:creationId xmlns:a16="http://schemas.microsoft.com/office/drawing/2014/main" id="{1124C7E6-48EC-44BD-9586-52BD3C95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905375"/>
            <a:ext cx="50006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EE70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E7015"/>
                </a:solidFill>
                <a:latin typeface="Helvetica Neue"/>
                <a:ea typeface="Helvetica Neue"/>
                <a:cs typeface="Helvetica Neue"/>
              </a:rPr>
              <a:t>|k|误差0.041374 &gt; 0.040</a:t>
            </a:r>
          </a:p>
          <a:p xmlns:a="http://schemas.openxmlformats.org/drawingml/2006/main">
            <a:pPr>
              <a:buNone/>
              <a:defRPr sz="1725" b="1">
                <a:solidFill>
                  <a:srgbClr val="EE70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E7015"/>
                </a:solidFill>
                <a:latin typeface="Helvetica Neue"/>
                <a:ea typeface="Helvetica Neue"/>
                <a:cs typeface="Helvetica Neue"/>
              </a:rPr>
              <a:t>strict有效，但联合 NOT_HIT。</a:t>
            </a:r>
          </a:p>
        </p:txBody>
      </p:sp>
      <p:sp>
        <p:nvSpPr>
          <p:cNvPr id="20" name="dev_note">
            <a:extLst xmlns:a="http://schemas.openxmlformats.org/drawingml/2006/main">
              <a:ext uri="{FF2B5EF4-FFF2-40B4-BE49-F238E27FC236}">
                <a16:creationId xmlns:a16="http://schemas.microsoft.com/office/drawing/2014/main" id="{D55BE8E2-2815-478D-B810-EA8E44B8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9775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Q的百分比误差为3.57%；联合失败来自|k|，不能将strict有效或Q接近目标等同于四指标达标。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666750" y="1895475"/>
          <a:ext xmlns:a="http://schemas.openxmlformats.org/drawingml/2006/main" cx="5362575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1daef48e1984838"/>
          </a:graphicData>
        </a:graphic>
      </p:graphicFrame>
      <p:graphicFrame>
        <p:nvGraphicFramePr>
          <p:cNvPr id="32" name="q10_actual_target"/>
          <p:cNvGraphicFramePr/>
          <p:nvPr/>
        </p:nvGraphicFramePr>
        <p:xfrm>
          <a:off xmlns:a="http://schemas.openxmlformats.org/drawingml/2006/main" x="6505575" y="2190750"/>
          <a:ext xmlns:a="http://schemas.openxmlformats.org/drawingml/2006/main" cx="5000625" cy="2486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76350"/>
                <a:gridCol w="1219200"/>
                <a:gridCol w="1285875"/>
                <a:gridCol w="1219200"/>
              </a:tblGrid>
              <a:tr h="49720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877D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指标</a:t>
                      </a:r>
                    </a:p>
                  </a:txBody>
                  <a:tcPr marL="76200" marR="76200" marT="47625" marB="47625" anchor="ctr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877D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目标</a:t>
                      </a:r>
                    </a:p>
                  </a:txBody>
                  <a:tcPr marL="76200" marR="76200" marT="47625" marB="47625" anchor="ctr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877D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真实EMX</a:t>
                      </a:r>
                    </a:p>
                  </a:txBody>
                  <a:tcPr marL="76200" marR="76200" marT="47625" marB="47625" anchor="ctr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877D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绝对容差</a:t>
                      </a:r>
                    </a:p>
                  </a:txBody>
                  <a:tcPr marL="76200" marR="76200" marT="47625" marB="47625" anchor="ctr">
                    <a:solidFill>
                      <a:srgbClr val="EFF5FC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Lp (nH)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0.973199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0.988449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0.125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Ls (nH)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1.492919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1.471304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0.125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Qmin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13.000000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12.535572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1.000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|k|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0.132281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0.173655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0.040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42895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mplate_accent">
            <a:extLst xmlns:a="http://schemas.openxmlformats.org/drawingml/2006/main">
              <a:ext uri="{FF2B5EF4-FFF2-40B4-BE49-F238E27FC236}">
                <a16:creationId xmlns:a16="http://schemas.microsoft.com/office/drawing/2014/main" id="{0C6C235A-EA2A-45DD-BA1C-8C49C690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95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mplate_kicker">
            <a:extLst xmlns:a="http://schemas.openxmlformats.org/drawingml/2006/main">
              <a:ext uri="{FF2B5EF4-FFF2-40B4-BE49-F238E27FC236}">
                <a16:creationId xmlns:a16="http://schemas.microsoft.com/office/drawing/2014/main" id="{93330596-FD6D-4E8A-875C-33D633B6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真实训练日志</a:t>
            </a:r>
          </a:p>
        </p:txBody>
      </p:sp>
      <p:sp>
        <p:nvSpPr>
          <p:cNvPr id="3" name="template_title">
            <a:extLst xmlns:a="http://schemas.openxmlformats.org/drawingml/2006/main">
              <a:ext uri="{FF2B5EF4-FFF2-40B4-BE49-F238E27FC236}">
                <a16:creationId xmlns:a16="http://schemas.microsoft.com/office/drawing/2014/main" id="{6A719BD3-B642-4046-99D3-733D5D62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15 GHz正式模型学习曲线与预算</a:t>
            </a:r>
          </a:p>
        </p:txBody>
      </p:sp>
      <p:sp>
        <p:nvSpPr>
          <p:cNvPr id="4" name="template_divider">
            <a:extLst xmlns:a="http://schemas.openxmlformats.org/drawingml/2006/main">
              <a:ext uri="{FF2B5EF4-FFF2-40B4-BE49-F238E27FC236}">
                <a16:creationId xmlns:a16="http://schemas.microsoft.com/office/drawing/2014/main" id="{A05394E4-5EAF-4C1C-ABD4-0B150A92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mplate_footer">
            <a:extLst xmlns:a="http://schemas.openxmlformats.org/drawingml/2006/main">
              <a:ext uri="{FF2B5EF4-FFF2-40B4-BE49-F238E27FC236}">
                <a16:creationId xmlns:a16="http://schemas.microsoft.com/office/drawing/2014/main" id="{C9CB8406-3AE5-4EB4-9003-15F42211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记录真实validation。两角色损失定义不同，不直接比较。19/20 GHz尚未完成600+3000更新的响应权重调度。</a:t>
            </a:r>
          </a:p>
        </p:txBody>
      </p:sp>
      <p:sp>
        <p:nvSpPr>
          <p:cNvPr id="15" name="template_page">
            <a:extLst xmlns:a="http://schemas.openxmlformats.org/drawingml/2006/main">
              <a:ext uri="{FF2B5EF4-FFF2-40B4-BE49-F238E27FC236}">
                <a16:creationId xmlns:a16="http://schemas.microsoft.com/office/drawing/2014/main" id="{49819C64-244F-4F65-B312-9C56B040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666750" y="1714500"/>
          <a:ext xmlns:a="http://schemas.openxmlformats.org/drawingml/2006/main" cx="5238750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85f4b4928204cbd"/>
          </a:graphicData>
        </a:graphic>
      </p:graphicFrame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6143625" y="1714500"/>
          <a:ext xmlns:a="http://schemas.openxmlformats.org/drawingml/2006/main" cx="5238750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b675c78ae134335"/>
          </a:graphicData>
        </a:graphic>
      </p:graphicFrame>
      <p:graphicFrame>
        <p:nvGraphicFramePr>
          <p:cNvPr id="28" name="budget_counts"/>
          <p:cNvGraphicFramePr/>
          <p:nvPr/>
        </p:nvGraphicFramePr>
        <p:xfrm>
          <a:off xmlns:a="http://schemas.openxmlformats.org/drawingml/2006/main" x="666750" y="4705350"/>
          <a:ext xmlns:a="http://schemas.openxmlformats.org/drawingml/2006/main" cx="10763250" cy="1562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952750"/>
                <a:gridCol w="5143500"/>
              </a:tblGrid>
              <a:tr h="3905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877D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频率</a:t>
                      </a:r>
                    </a:p>
                  </a:txBody>
                  <a:tcPr marL="76200" marR="76200" marT="47625" marB="47625" anchor="ctr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877D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每角色更新数</a:t>
                      </a:r>
                    </a:p>
                  </a:txBody>
                  <a:tcPr marL="76200" marR="76200" marT="47625" marB="47625" anchor="ctr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877D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训练状态</a:t>
                      </a:r>
                    </a:p>
                  </a:txBody>
                  <a:tcPr marL="76200" marR="76200" marT="47625" marB="47625" anchor="ctr">
                    <a:solidFill>
                      <a:srgbClr val="EFF5FC"/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5–16 GHz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12,000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PARTIAL / NOT_ESTABLISHED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17 / 18 GHz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8875 / 5538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PARTIAL / NOT_ESTABLISHED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19 / 20 GHz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3357 / 1744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PARTIAL，响应权重爬坡未结束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42895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mplate_accent">
            <a:extLst xmlns:a="http://schemas.openxmlformats.org/drawingml/2006/main">
              <a:ext uri="{FF2B5EF4-FFF2-40B4-BE49-F238E27FC236}">
                <a16:creationId xmlns:a16="http://schemas.microsoft.com/office/drawing/2014/main" id="{0C6C235A-EA2A-45DD-BA1C-8C49C690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95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mplate_kicker">
            <a:extLst xmlns:a="http://schemas.openxmlformats.org/drawingml/2006/main">
              <a:ext uri="{FF2B5EF4-FFF2-40B4-BE49-F238E27FC236}">
                <a16:creationId xmlns:a16="http://schemas.microsoft.com/office/drawing/2014/main" id="{93330596-FD6D-4E8A-875C-33D633B6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汇报问答</a:t>
            </a:r>
          </a:p>
        </p:txBody>
      </p:sp>
      <p:sp>
        <p:nvSpPr>
          <p:cNvPr id="3" name="template_title">
            <a:extLst xmlns:a="http://schemas.openxmlformats.org/drawingml/2006/main">
              <a:ext uri="{FF2B5EF4-FFF2-40B4-BE49-F238E27FC236}">
                <a16:creationId xmlns:a16="http://schemas.microsoft.com/office/drawing/2014/main" id="{6A719BD3-B642-4046-99D3-733D5D62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当前结论、局限与模型调用</a:t>
            </a:r>
          </a:p>
        </p:txBody>
      </p:sp>
      <p:sp>
        <p:nvSpPr>
          <p:cNvPr id="4" name="template_divider">
            <a:extLst xmlns:a="http://schemas.openxmlformats.org/drawingml/2006/main">
              <a:ext uri="{FF2B5EF4-FFF2-40B4-BE49-F238E27FC236}">
                <a16:creationId xmlns:a16="http://schemas.microsoft.com/office/drawing/2014/main" id="{A05394E4-5EAF-4C1C-ABD4-0B150A92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mplate_footer">
            <a:extLst xmlns:a="http://schemas.openxmlformats.org/drawingml/2006/main">
              <a:ext uri="{FF2B5EF4-FFF2-40B4-BE49-F238E27FC236}">
                <a16:creationId xmlns:a16="http://schemas.microsoft.com/office/drawing/2014/main" id="{C9CB8406-3AE5-4EB4-9003-15F42211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所有模型、数据、split、normalizer、best/last与加载/续训证据均保留SHA引用。</a:t>
            </a:r>
          </a:p>
        </p:txBody>
      </p:sp>
      <p:sp>
        <p:nvSpPr>
          <p:cNvPr id="15" name="template_page">
            <a:extLst xmlns:a="http://schemas.openxmlformats.org/drawingml/2006/main">
              <a:ext uri="{FF2B5EF4-FFF2-40B4-BE49-F238E27FC236}">
                <a16:creationId xmlns:a16="http://schemas.microsoft.com/office/drawing/2014/main" id="{49819C64-244F-4F65-B312-9C56B040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graphicFrame>
        <p:nvGraphicFramePr>
          <p:cNvPr id="28" name="advisor_qa"/>
          <p:cNvGraphicFramePr/>
          <p:nvPr/>
        </p:nvGraphicFramePr>
        <p:xfrm>
          <a:off xmlns:a="http://schemas.openxmlformats.org/drawingml/2006/main" x="666750" y="1657350"/>
          <a:ext xmlns:a="http://schemas.openxmlformats.org/drawingml/2006/main" cx="10763250" cy="3086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7905750"/>
              </a:tblGrid>
              <a:tr h="5143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77D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导师可能追问</a:t>
                      </a:r>
                    </a:p>
                  </a:txBody>
                  <a:tcPr marL="76200" marR="76200" marT="47625" marB="47625" anchor="ctr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77D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目前能够支持的回答</a:t>
                      </a:r>
                    </a:p>
                  </a:txBody>
                  <a:tcPr marL="76200" marR="76200" marT="47625" marB="47625" anchor="ctr">
                    <a:solidFill>
                      <a:srgbClr val="EFF5F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为什么先采用简单MLP？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复用已验证256×3结构，把工作频率作为模型路由，先获得可核验结果。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10K是否全用于训练？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不是。共同6015/2002/1983分组，逐频strict后有效训练数继续减少。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代理命中是否代表物理精度？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SELF_PROXY是内部反馈。真实EMX证据另列，并保留解析/GDS/DRC失败。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能选出最佳Q或宣布收敛吗？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仅5请求完整strict 11可算q_emx；其余不取幸存者最优。训练仍PARTIAL。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已验证什么？能否继续训练？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16包加载/单步诊断续训PASS；正式累计预算已耗尽，诊断权重不参与排名。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package">
            <a:extLst xmlns:a="http://schemas.openxmlformats.org/drawingml/2006/main">
              <a:ext uri="{FF2B5EF4-FFF2-40B4-BE49-F238E27FC236}">
                <a16:creationId xmlns:a16="http://schemas.microsoft.com/office/drawing/2014/main" id="{DB40D56C-2947-4C06-BFC4-BFE883A5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4347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实际正式15 GHz模型包</a:t>
            </a:r>
          </a:p>
        </p:txBody>
      </p:sp>
      <p:sp>
        <p:nvSpPr>
          <p:cNvPr id="19" name="path">
            <a:extLst xmlns:a="http://schemas.openxmlformats.org/drawingml/2006/main">
              <a:ext uri="{FF2B5EF4-FFF2-40B4-BE49-F238E27FC236}">
                <a16:creationId xmlns:a16="http://schemas.microsoft.com/office/drawing/2014/main" id="{5470EE3A-7D14-41B1-95A5-5CF1A4F9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reports/frequency_indexed_mlp_20260908T041800Z/</a:t>
            </a:r>
          </a:p>
          <a:p xmlns:a="http://schemas.openxmlformats.org/drawingml/2006/main">
            <a:pPr>
              <a:buNone/>
              <a:defRPr sz="15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formal10k_15ghz/posttrain/package/MODEL_INDEX.json</a:t>
            </a:r>
          </a:p>
        </p:txBody>
      </p:sp>
      <p:sp>
        <p:nvSpPr>
          <p:cNvPr id="20" name="call">
            <a:extLst xmlns:a="http://schemas.openxmlformats.org/drawingml/2006/main">
              <a:ext uri="{FF2B5EF4-FFF2-40B4-BE49-F238E27FC236}">
                <a16:creationId xmlns:a16="http://schemas.microsoft.com/office/drawing/2014/main" id="{16732149-D1FB-4239-849C-0A2CCCAF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67425"/>
            <a:ext cx="1076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统一调用 frequency_package infer；原累计训练预算已耗尽，不能将诊断续训当正式延训。</a:t>
            </a:r>
          </a:p>
        </p:txBody>
      </p:sp>
    </p:spTree>
    <p:extLst>
      <p:ext uri="{BB962C8B-B14F-4D97-AF65-F5344CB8AC3E}">
        <p14:creationId xmlns:p14="http://schemas.microsoft.com/office/powerpoint/2010/main" val="11942895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2026-09-08T15:23:20.2750000Z</dcterms:created>
  <dcterms:modified xsi:type="dcterms:W3CDTF">2026-09-08T15:23:20.2750000Z</dcterms:modified>
</coreProperties>
</file>